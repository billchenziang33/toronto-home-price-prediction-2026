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9b9d104a7941d4" /><Relationship Type="http://schemas.openxmlformats.org/officeDocument/2006/relationships/extended-properties" Target="/docProps/app.xml" Id="R1c88b9b2e0584da7" /><Relationship Type="http://schemas.openxmlformats.org/officeDocument/2006/relationships/officeDocument" Target="/ppt/presentation.xml" Id="R38b4bde0cf13417b" /></Relationships>
</file>

<file path=ppt/presentation.xml><?xml version="1.0" encoding="utf-8"?>
<p:presentation xmlns:p="http://schemas.openxmlformats.org/presentationml/2006/main">
  <p:sldMasterIdLst>
    <p:sldMasterId xmlns:r="http://schemas.openxmlformats.org/officeDocument/2006/relationships" id="2147483648" r:id="R83627269110f4cb4"/>
  </p:sldMasterIdLst>
  <p:notesMasterIdLst>
    <p:notesMasterId xmlns:r="http://schemas.openxmlformats.org/officeDocument/2006/relationships" r:id="R75bfdbc1e81e4248"/>
  </p:notesMasterIdLst>
  <p:sldIdLst>
    <p:sldId xmlns:r="http://schemas.openxmlformats.org/officeDocument/2006/relationships" id="256" r:id="R367f3f4212634181"/>
    <p:sldId xmlns:r="http://schemas.openxmlformats.org/officeDocument/2006/relationships" id="257" r:id="Re3e73679afe141c0"/>
    <p:sldId xmlns:r="http://schemas.openxmlformats.org/officeDocument/2006/relationships" id="258" r:id="Raf489589eef648db"/>
    <p:sldId xmlns:r="http://schemas.openxmlformats.org/officeDocument/2006/relationships" id="259" r:id="R3771067125f14cdc"/>
    <p:sldId xmlns:r="http://schemas.openxmlformats.org/officeDocument/2006/relationships" id="260" r:id="Rb89e42ac451a4ca6"/>
    <p:sldId xmlns:r="http://schemas.openxmlformats.org/officeDocument/2006/relationships" id="261" r:id="R237b78f18d2741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b3a1efca664c67" /><Relationship Type="http://schemas.openxmlformats.org/officeDocument/2006/relationships/slideMaster" Target="/ppt/slideMasters/slideMaster1.xml" Id="R83627269110f4cb4" /><Relationship Type="http://schemas.openxmlformats.org/officeDocument/2006/relationships/notesMaster" Target="/ppt/notesMasters/notesMaster1.xml" Id="R75bfdbc1e81e4248" /><Relationship Type="http://schemas.openxmlformats.org/officeDocument/2006/relationships/presProps" Target="/ppt/presProps.xml" Id="R0bb50e3c0d304814" /><Relationship Type="http://schemas.openxmlformats.org/officeDocument/2006/relationships/tableStyles" Target="/ppt/tableStyles.xml" Id="Rfe83738ad9644279" /><Relationship Type="http://schemas.openxmlformats.org/officeDocument/2006/relationships/slide" Target="/ppt/slides/slide1.xml" Id="R367f3f4212634181" /><Relationship Type="http://schemas.openxmlformats.org/officeDocument/2006/relationships/slide" Target="/ppt/slides/slide2.xml" Id="Re3e73679afe141c0" /><Relationship Type="http://schemas.openxmlformats.org/officeDocument/2006/relationships/slide" Target="/ppt/slides/slide3.xml" Id="Raf489589eef648db" /><Relationship Type="http://schemas.openxmlformats.org/officeDocument/2006/relationships/slide" Target="/ppt/slides/slide4.xml" Id="R3771067125f14cdc" /><Relationship Type="http://schemas.openxmlformats.org/officeDocument/2006/relationships/slide" Target="/ppt/slides/slide5.xml" Id="Rb89e42ac451a4ca6" /><Relationship Type="http://schemas.openxmlformats.org/officeDocument/2006/relationships/slide" Target="/ppt/slides/slide6.xml" Id="R237b78f18d2741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50ce93fb4a40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d215de87f341d9" /><Relationship Type="http://schemas.openxmlformats.org/officeDocument/2006/relationships/notesMaster" Target="/ppt/notesMasters/notesMaster1.xml" Id="R87bea6adeaad4a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c943887bb84829" /><Relationship Type="http://schemas.openxmlformats.org/officeDocument/2006/relationships/notesMaster" Target="/ppt/notesMasters/notesMaster1.xml" Id="R4ea8e0f418694f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8ece6d93aa4ef3" /><Relationship Type="http://schemas.openxmlformats.org/officeDocument/2006/relationships/notesMaster" Target="/ppt/notesMasters/notesMaster1.xml" Id="Ref8167e81a2e43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aa018bcd1f4a6c" /><Relationship Type="http://schemas.openxmlformats.org/officeDocument/2006/relationships/notesMaster" Target="/ppt/notesMasters/notesMaster1.xml" Id="R163136b3e54e4a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eba537065840ce" /><Relationship Type="http://schemas.openxmlformats.org/officeDocument/2006/relationships/notesMaster" Target="/ppt/notesMasters/notesMaster1.xml" Id="Rc972feeac87945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4ac3950d2147ea" /><Relationship Type="http://schemas.openxmlformats.org/officeDocument/2006/relationships/notesMaster" Target="/ppt/notesMasters/notesMaster1.xml" Id="Ra929b977702147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home estimate can answer two different questions. Before the owner lists, there is no asking price to guide the estimate. After listing, the model can also use the asking price. We kept those tasks separate because an estimate that sees list price cannot answer the off-market question.</a:t>
            </a:r>
          </a:p>
          <a:p xmlns:a="http://schemas.openxmlformats.org/drawingml/2006/main">
            <a:r>
              <a:t/>
            </a:r>
          </a:p>
          <a:p xmlns:a="http://schemas.openxmlformats.org/drawingml/2006/main">
            <a:r>
              <a:t>Source: Official handout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provides synthetic Toronto-style transaction data. We tested the model with six walk-forward monthly windows, for 10,069 homes per track overall. In each window, we trained on sales before the month and predicted sales in that month. We did not use hidden sale prices or outside records.</a:t>
            </a:r>
          </a:p>
          <a:p xmlns:a="http://schemas.openxmlformats.org/drawingml/2006/main">
            <a:r>
              <a:t/>
            </a:r>
          </a:p>
          <a:p xmlns:a="http://schemas.openxmlformats.org/drawingml/2006/main">
            <a:r>
              <a:t>Source: Official starter README and handout: https://github.com/erwinzhang7/SSU-Data-Dash and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home size, rooms, parking, location coordinates, property type, house style, municipality, community, and listing time. The list-aware model also receives list price; the off-market model never sees it. Both models predict log sale price with histogram gradient boosting. The frozen release is the previously published structured-feature version. Remarks predictions remain in a separate experiment archive.</a:t>
            </a:r>
          </a:p>
          <a:p xmlns:a="http://schemas.openxmlformats.org/drawingml/2006/main">
            <a:r>
              <a:t/>
            </a:r>
          </a:p>
          <a:p xmlns:a="http://schemas.openxmlformats.org/drawingml/2006/main">
            <a:r>
              <a:t>Source: Frozen feature and model definitions: https://github.com/billchenziang33/toronto-home-price-prediction-2026/blob/7cffe186bd9f0a2e8fc22f3897d52b3dbaaa8df8/features.py and https://github.com/billchenziang33/toronto-home-price-prediction-2026/blob/7cffe186bd9f0a2e8fc22f3897d52b3dbaaa8df8/models.py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same walk-forward validation, off-market MdAPE fell from the starter's 20.8 percent to 10.60 percent. List-aware MdAPE fell from 7.3 percent to 4.36 percent. The table reports the published structured model and its reproduced starter comparison. These are validation results, not a claim about the hidden test.</a:t>
            </a:r>
          </a:p>
          <a:p xmlns:a="http://schemas.openxmlformats.org/drawingml/2006/main">
            <a:r>
              <a:t/>
            </a:r>
          </a:p>
          <a:p xmlns:a="http://schemas.openxmlformats.org/drawingml/2006/main">
            <a:r>
              <a:t>Source: Official starter baselines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error chart shows a remaining weakness. Off-market MdAPE is 13.10 percent in the cheapest price decile and 16.55 percent in the most expensive, compared with roughly 8 to 12 percent through the middle. List-aware MdAPE rises to 5.79 percent in the top decile. These slices come from the same frozen validation predictions as the headline scores.</a:t>
            </a:r>
          </a:p>
          <a:p xmlns:a="http://schemas.openxmlformats.org/drawingml/2006/main">
            <a:r>
              <a:t/>
            </a:r>
          </a:p>
          <a:p xmlns:a="http://schemas.openxmlformats.org/drawingml/2006/main">
            <a:r>
              <a:t>Source: Computed from the frozen six-month predictions archived at evidence/validation_predictions_frozen.csv.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results are useful within this synthetic benchmark, but the community names and coordinates do not map to real Toronto. The hidden period may behave differently from the six validation months, and home-level bootstrap intervals do not capture shared month shocks. The organizer says remarks reflect market dynamics, so we tested them separately. After correcting the paired MdAPE calculation, both confirmation-period intervals include zero. We therefore kept the published structured model frozen and retained the remarks predictions as an experiment. A next step is to test price-tail calibration with the same forward-only validation. Thank you.</a:t>
            </a:r>
          </a:p>
          <a:p xmlns:a="http://schemas.openxmlformats.org/drawingml/2006/main">
            <a:r>
              <a:t/>
            </a:r>
          </a:p>
          <a:p xmlns:a="http://schemas.openxmlformats.org/drawingml/2006/main">
            <a:r>
              <a:t>Source: Official handout: https://github.com/erwinzhang7/SSU-Data-Dash/blob/main/handout.md. Organizer reply on remarks: https://discord.com/channels/1536459393493762058/1558195702700441700/1558522942113980459. Corrected analysis: experiments/remarks_experiment_audit.json.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880b8722c24b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2fd6910f2546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4a247e4c8a4c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313c7744d94b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d6784f41bf42c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8a34e4e077a45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6ADCAB-F55B-4279-827A-FC3C16F131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F11A66-5205-482B-8DF4-54AFC461E5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EE877F-4001-4359-B593-1F718BED9F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EFF634-553F-4555-8AF4-4F77233126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01919B-2D9F-4C7D-9380-E05D01A7284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582619-9E01-45AB-94C1-798FEE3CF9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170E3D-3340-46DB-A75E-BFD72C1E4C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D6D3CD-577B-4E06-8574-F985E719D1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262E2B-305B-4BDD-99C4-097B018803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020B40-BA40-49B9-8679-F4AB01E87F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84c78bf6184b78" /><Relationship Type="http://schemas.openxmlformats.org/officeDocument/2006/relationships/slideLayout" Target="/ppt/slideLayouts/slideLayout1.xml" Id="Rb64278a659554dae" /><Relationship Type="http://schemas.openxmlformats.org/officeDocument/2006/relationships/slideLayout" Target="/ppt/slideLayouts/slideLayout2.xml" Id="Rdc9756dd773245f0" /><Relationship Type="http://schemas.openxmlformats.org/officeDocument/2006/relationships/slideLayout" Target="/ppt/slideLayouts/slideLayout3.xml" Id="R258f3ad5e8cf4477" /><Relationship Type="http://schemas.openxmlformats.org/officeDocument/2006/relationships/slideLayout" Target="/ppt/slideLayouts/slideLayout4.xml" Id="Rb7de308565ca4701" /><Relationship Type="http://schemas.openxmlformats.org/officeDocument/2006/relationships/slideLayout" Target="/ppt/slideLayouts/slideLayout5.xml" Id="R5105e8544ef548d8" /><Relationship Type="http://schemas.openxmlformats.org/officeDocument/2006/relationships/slideLayout" Target="/ppt/slideLayouts/slideLayout6.xml" Id="R534e6aafc8974a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4278a659554dae"/>
    <p:sldLayoutId xmlns:r="http://schemas.openxmlformats.org/officeDocument/2006/relationships" id="2147483650" r:id="Rdc9756dd773245f0"/>
    <p:sldLayoutId xmlns:r="http://schemas.openxmlformats.org/officeDocument/2006/relationships" id="2147483651" r:id="R258f3ad5e8cf4477"/>
    <p:sldLayoutId xmlns:r="http://schemas.openxmlformats.org/officeDocument/2006/relationships" id="2147483652" r:id="Rb7de308565ca4701"/>
    <p:sldLayoutId xmlns:r="http://schemas.openxmlformats.org/officeDocument/2006/relationships" id="2147483653" r:id="R5105e8544ef548d8"/>
    <p:sldLayoutId xmlns:r="http://schemas.openxmlformats.org/officeDocument/2006/relationships" id="2147483654" r:id="R534e6aafc8974a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d29da92bbe4172" /><Relationship Type="http://schemas.openxmlformats.org/officeDocument/2006/relationships/notesSlide" Target="/ppt/notesSlides/notesSlide1.xml" Id="R3a780563a3ac4b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2b740a0a074acf" /><Relationship Type="http://schemas.openxmlformats.org/officeDocument/2006/relationships/notesSlide" Target="/ppt/notesSlides/notesSlide2.xml" Id="R2fb9e724eaab45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e0b59d167047bb" /><Relationship Type="http://schemas.openxmlformats.org/officeDocument/2006/relationships/notesSlide" Target="/ppt/notesSlides/notesSlide3.xml" Id="R7269910f40ab44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37581a60cf4f3b" /><Relationship Type="http://schemas.openxmlformats.org/officeDocument/2006/relationships/notesSlide" Target="/ppt/notesSlides/notesSlide4.xml" Id="R9cadb7ffdbcd46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8c871b2b3242e8" /><Relationship Type="http://schemas.openxmlformats.org/officeDocument/2006/relationships/image" Target="/ppt/media/image.png" Id="Rd515a35d39004c06" /><Relationship Type="http://schemas.openxmlformats.org/officeDocument/2006/relationships/notesSlide" Target="/ppt/notesSlides/notesSlide5.xml" Id="Ra4c41b49918e48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1cda56b1054f03" /><Relationship Type="http://schemas.openxmlformats.org/officeDocument/2006/relationships/notesSlide" Target="/ppt/notesSlides/notesSlide6.xml" Id="R62255082444640c3" /></Relationships>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cover-team">
            <a:extLst xmlns:a="http://schemas.openxmlformats.org/drawingml/2006/main">
              <a:ext uri="{FF2B5EF4-FFF2-40B4-BE49-F238E27FC236}">
                <a16:creationId xmlns:a16="http://schemas.microsoft.com/office/drawing/2014/main" id="{DC67EDDF-18B8-40BF-A62A-94DD446FCFCE}"/>
              </a:ext>
            </a:extLst>
          </p:cNvPr>
          <p:cNvSpPr>
            <a:spLocks xmlns:a="http://schemas.openxmlformats.org/drawingml/2006/main" noGrp="1"/>
          </p:cNvSpPr>
          <p:nvPr/>
        </p:nvSpPr>
        <p:spPr>
          <a:xfrm xmlns:a="http://schemas.openxmlformats.org/drawingml/2006/main">
            <a:off x="723900" y="552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TORONTO FOURCAST</a:t>
            </a:r>
          </a:p>
        </p:txBody>
      </p:sp>
      <p:sp>
        <p:nvSpPr>
          <p:cNvPr id="2" name="cover-title">
            <a:extLst xmlns:a="http://schemas.openxmlformats.org/drawingml/2006/main">
              <a:ext uri="{FF2B5EF4-FFF2-40B4-BE49-F238E27FC236}">
                <a16:creationId xmlns:a16="http://schemas.microsoft.com/office/drawing/2014/main" id="{08D8E3DA-4DFC-4A0F-99D8-DD8857ED46CF}"/>
              </a:ext>
            </a:extLst>
          </p:cNvPr>
          <p:cNvSpPr>
            <a:spLocks xmlns:a="http://schemas.openxmlformats.org/drawingml/2006/main" noGrp="1"/>
          </p:cNvSpPr>
          <p:nvPr/>
        </p:nvSpPr>
        <p:spPr>
          <a:xfrm xmlns:a="http://schemas.openxmlformats.org/drawingml/2006/main">
            <a:off x="723900" y="1200150"/>
            <a:ext cx="647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18324B"/>
                </a:solidFill>
                <a:latin typeface="Arial"/>
                <a:ea typeface="Arial"/>
                <a:cs typeface="Arial"/>
              </a:defRPr>
            </a:defPPr>
          </a:lstStyle>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Two home-price</a:t>
            </a:r>
          </a:p>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questions</a:t>
            </a:r>
          </a:p>
        </p:txBody>
      </p:sp>
      <p:sp>
        <p:nvSpPr>
          <p:cNvPr id="3" name="cover-subtitle">
            <a:extLst xmlns:a="http://schemas.openxmlformats.org/drawingml/2006/main">
              <a:ext uri="{FF2B5EF4-FFF2-40B4-BE49-F238E27FC236}">
                <a16:creationId xmlns:a16="http://schemas.microsoft.com/office/drawing/2014/main" id="{FBCAB921-A4A3-45D4-96F9-201E52ECCED3}"/>
              </a:ext>
            </a:extLst>
          </p:cNvPr>
          <p:cNvSpPr>
            <a:spLocks xmlns:a="http://schemas.openxmlformats.org/drawingml/2006/main" noGrp="1"/>
          </p:cNvSpPr>
          <p:nvPr/>
        </p:nvSpPr>
        <p:spPr>
          <a:xfrm xmlns:a="http://schemas.openxmlformats.org/drawingml/2006/main">
            <a:off x="742950" y="29908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536575"/>
                </a:solidFill>
                <a:latin typeface="Arial"/>
                <a:ea typeface="Arial"/>
                <a:cs typeface="Arial"/>
              </a:defRPr>
            </a:defPPr>
          </a:lstStyle>
          <a:p xmlns:a="http://schemas.openxmlformats.org/drawingml/2006/main">
            <a:pPr algn="l">
              <a:defRPr sz="2025" b="0">
                <a:solidFill>
                  <a:srgbClr val="536575"/>
                </a:solidFill>
                <a:latin typeface="Arial"/>
                <a:ea typeface="Arial"/>
                <a:cs typeface="Arial"/>
              </a:defRPr>
            </a:pPr>
            <a:r>
              <a:rPr sz="2025" b="0">
                <a:solidFill>
                  <a:srgbClr val="536575"/>
                </a:solidFill>
                <a:latin typeface="Arial"/>
                <a:ea typeface="Arial"/>
                <a:cs typeface="Arial"/>
              </a:rPr>
              <a:t>Toronto home-price prediction challenge</a:t>
            </a:r>
          </a:p>
        </p:txBody>
      </p:sp>
      <p:sp>
        <p:nvSpPr>
          <p:cNvPr id="4" name="cover-divider">
            <a:extLst xmlns:a="http://schemas.openxmlformats.org/drawingml/2006/main">
              <a:ext uri="{FF2B5EF4-FFF2-40B4-BE49-F238E27FC236}">
                <a16:creationId xmlns:a16="http://schemas.microsoft.com/office/drawing/2014/main" id="{059038DC-2D9F-42F2-8540-65AA9A49CF9B}"/>
              </a:ext>
            </a:extLst>
          </p:cNvPr>
          <p:cNvSpPr>
            <a:spLocks xmlns:a="http://schemas.openxmlformats.org/drawingml/2006/main" noGrp="1"/>
          </p:cNvSpPr>
          <p:nvPr/>
        </p:nvSpPr>
        <p:spPr>
          <a:xfrm xmlns:a="http://schemas.openxmlformats.org/drawingml/2006/main">
            <a:off x="742950" y="3829050"/>
            <a:ext cx="10687050" cy="0"/>
          </a:xfrm>
          <a:prstGeom xmlns:a="http://schemas.openxmlformats.org/drawingml/2006/main" prst="line">
            <a:avLst/>
          </a:prstGeom>
          <a:noFill xmlns:a="http://schemas.openxmlformats.org/drawingml/2006/main"/>
          <a:ln xmlns:a="http://schemas.openxmlformats.org/drawingml/2006/main" w="19050">
            <a:solidFill>
              <a:srgbClr val="D7DFE4"/>
            </a:solidFill>
            <a:prstDash val="solid"/>
          </a:ln>
        </p:spPr>
      </p:sp>
      <p:sp>
        <p:nvSpPr>
          <p:cNvPr id="5" name="offmarket-label">
            <a:extLst xmlns:a="http://schemas.openxmlformats.org/drawingml/2006/main">
              <a:ext uri="{FF2B5EF4-FFF2-40B4-BE49-F238E27FC236}">
                <a16:creationId xmlns:a16="http://schemas.microsoft.com/office/drawing/2014/main" id="{61AED8B2-DE6F-41F7-8599-9DAD5D9B61E5}"/>
              </a:ext>
            </a:extLst>
          </p:cNvPr>
          <p:cNvSpPr>
            <a:spLocks xmlns:a="http://schemas.openxmlformats.org/drawingml/2006/main" noGrp="1"/>
          </p:cNvSpPr>
          <p:nvPr/>
        </p:nvSpPr>
        <p:spPr>
          <a:xfrm xmlns:a="http://schemas.openxmlformats.org/drawingml/2006/main">
            <a:off x="74295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7D80"/>
                </a:solidFill>
                <a:latin typeface="Arial"/>
                <a:ea typeface="Arial"/>
                <a:cs typeface="Arial"/>
              </a:defRPr>
            </a:defPPr>
          </a:lstStyle>
          <a:p xmlns:a="http://schemas.openxmlformats.org/drawingml/2006/main">
            <a:pPr algn="l">
              <a:defRPr sz="1725" b="1">
                <a:solidFill>
                  <a:srgbClr val="147D80"/>
                </a:solidFill>
                <a:latin typeface="Arial"/>
                <a:ea typeface="Arial"/>
                <a:cs typeface="Arial"/>
              </a:defRPr>
            </a:pPr>
            <a:r>
              <a:rPr sz="1725" b="1">
                <a:solidFill>
                  <a:srgbClr val="147D80"/>
                </a:solidFill>
                <a:latin typeface="Arial"/>
                <a:ea typeface="Arial"/>
                <a:cs typeface="Arial"/>
              </a:rPr>
              <a:t>OFF-MARKET</a:t>
            </a:r>
          </a:p>
        </p:txBody>
      </p:sp>
      <p:sp>
        <p:nvSpPr>
          <p:cNvPr id="6" name="offmarket-desc">
            <a:extLst xmlns:a="http://schemas.openxmlformats.org/drawingml/2006/main">
              <a:ext uri="{FF2B5EF4-FFF2-40B4-BE49-F238E27FC236}">
                <a16:creationId xmlns:a16="http://schemas.microsoft.com/office/drawing/2014/main" id="{F865FA4E-A955-4BD1-B6EF-8F8B6C159751}"/>
              </a:ext>
            </a:extLst>
          </p:cNvPr>
          <p:cNvSpPr>
            <a:spLocks xmlns:a="http://schemas.openxmlformats.org/drawingml/2006/main" noGrp="1"/>
          </p:cNvSpPr>
          <p:nvPr/>
        </p:nvSpPr>
        <p:spPr>
          <a:xfrm xmlns:a="http://schemas.openxmlformats.org/drawingml/2006/main">
            <a:off x="74295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before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No asking price available</a:t>
            </a:r>
          </a:p>
        </p:txBody>
      </p:sp>
      <p:sp>
        <p:nvSpPr>
          <p:cNvPr id="7" name="listaware-label">
            <a:extLst xmlns:a="http://schemas.openxmlformats.org/drawingml/2006/main">
              <a:ext uri="{FF2B5EF4-FFF2-40B4-BE49-F238E27FC236}">
                <a16:creationId xmlns:a16="http://schemas.microsoft.com/office/drawing/2014/main" id="{BFFB93D1-420E-4C2A-9585-29991F4FB28C}"/>
              </a:ext>
            </a:extLst>
          </p:cNvPr>
          <p:cNvSpPr>
            <a:spLocks xmlns:a="http://schemas.openxmlformats.org/drawingml/2006/main" noGrp="1"/>
          </p:cNvSpPr>
          <p:nvPr/>
        </p:nvSpPr>
        <p:spPr>
          <a:xfrm xmlns:a="http://schemas.openxmlformats.org/drawingml/2006/main">
            <a:off x="643890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D35E3D"/>
                </a:solidFill>
                <a:latin typeface="Arial"/>
                <a:ea typeface="Arial"/>
                <a:cs typeface="Arial"/>
              </a:defRPr>
            </a:defPPr>
          </a:lstStyle>
          <a:p xmlns:a="http://schemas.openxmlformats.org/drawingml/2006/main">
            <a:pPr algn="l">
              <a:defRPr sz="1725" b="1">
                <a:solidFill>
                  <a:srgbClr val="D35E3D"/>
                </a:solidFill>
                <a:latin typeface="Arial"/>
                <a:ea typeface="Arial"/>
                <a:cs typeface="Arial"/>
              </a:defRPr>
            </a:pPr>
            <a:r>
              <a:rPr sz="1725" b="1">
                <a:solidFill>
                  <a:srgbClr val="D35E3D"/>
                </a:solidFill>
                <a:latin typeface="Arial"/>
                <a:ea typeface="Arial"/>
                <a:cs typeface="Arial"/>
              </a:rPr>
              <a:t>LIST-AWARE</a:t>
            </a:r>
          </a:p>
        </p:txBody>
      </p:sp>
      <p:sp>
        <p:nvSpPr>
          <p:cNvPr id="8" name="listaware-desc">
            <a:extLst xmlns:a="http://schemas.openxmlformats.org/drawingml/2006/main">
              <a:ext uri="{FF2B5EF4-FFF2-40B4-BE49-F238E27FC236}">
                <a16:creationId xmlns:a16="http://schemas.microsoft.com/office/drawing/2014/main" id="{A02A5F7B-4AC5-4CA2-9981-7DE86676A9AF}"/>
              </a:ext>
            </a:extLst>
          </p:cNvPr>
          <p:cNvSpPr>
            <a:spLocks xmlns:a="http://schemas.openxmlformats.org/drawingml/2006/main" noGrp="1"/>
          </p:cNvSpPr>
          <p:nvPr/>
        </p:nvSpPr>
        <p:spPr>
          <a:xfrm xmlns:a="http://schemas.openxmlformats.org/drawingml/2006/main">
            <a:off x="643890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after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Asking price is an input</a:t>
            </a:r>
          </a:p>
        </p:txBody>
      </p:sp>
      <p:sp>
        <p:nvSpPr>
          <p:cNvPr id="9" name="cover-foot">
            <a:extLst xmlns:a="http://schemas.openxmlformats.org/drawingml/2006/main">
              <a:ext uri="{FF2B5EF4-FFF2-40B4-BE49-F238E27FC236}">
                <a16:creationId xmlns:a16="http://schemas.microsoft.com/office/drawing/2014/main" id="{06CCC18A-E688-41BA-9014-12534B3FEF7A}"/>
              </a:ext>
            </a:extLst>
          </p:cNvPr>
          <p:cNvSpPr>
            <a:spLocks xmlns:a="http://schemas.openxmlformats.org/drawingml/2006/main" noGrp="1"/>
          </p:cNvSpPr>
          <p:nvPr/>
        </p:nvSpPr>
        <p:spPr>
          <a:xfrm xmlns:a="http://schemas.openxmlformats.org/drawingml/2006/main">
            <a:off x="742950" y="579120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5"/>
                </a:solidFill>
                <a:latin typeface="Arial"/>
                <a:ea typeface="Arial"/>
                <a:cs typeface="Arial"/>
              </a:defRPr>
            </a:defPPr>
          </a:lstStyle>
          <a:p xmlns:a="http://schemas.openxmlformats.org/drawingml/2006/main">
            <a:pPr algn="l">
              <a:defRPr sz="1425" b="0">
                <a:solidFill>
                  <a:srgbClr val="536575"/>
                </a:solidFill>
                <a:latin typeface="Arial"/>
                <a:ea typeface="Arial"/>
                <a:cs typeface="Arial"/>
              </a:defRPr>
            </a:pPr>
            <a:r>
              <a:rPr sz="1425" b="0">
                <a:solidFill>
                  <a:srgbClr val="536575"/>
                </a:solidFill>
                <a:latin typeface="Arial"/>
                <a:ea typeface="Arial"/>
                <a:cs typeface="Arial"/>
              </a:rPr>
              <a:t>Separate tracks keep the information boundary clear.</a:t>
            </a:r>
          </a:p>
        </p:txBody>
      </p:sp>
    </p:spTree>
    <p:extLst>
      <p:ext uri="{BB962C8B-B14F-4D97-AF65-F5344CB8AC3E}">
        <p14:creationId xmlns:p14="http://schemas.microsoft.com/office/powerpoint/2010/main" val="1181238739"/>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BC0699AB-97DA-4EF9-A8D9-666D89633255}"/>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test moves forward in time</a:t>
            </a:r>
          </a:p>
        </p:txBody>
      </p:sp>
      <p:sp>
        <p:nvSpPr>
          <p:cNvPr id="2" name="rule-2">
            <a:extLst xmlns:a="http://schemas.openxmlformats.org/drawingml/2006/main">
              <a:ext uri="{FF2B5EF4-FFF2-40B4-BE49-F238E27FC236}">
                <a16:creationId xmlns:a16="http://schemas.microsoft.com/office/drawing/2014/main" id="{611EA590-6C6A-4DBE-A711-7F17D5C1E693}"/>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2">
            <a:extLst xmlns:a="http://schemas.openxmlformats.org/drawingml/2006/main">
              <a:ext uri="{FF2B5EF4-FFF2-40B4-BE49-F238E27FC236}">
                <a16:creationId xmlns:a16="http://schemas.microsoft.com/office/drawing/2014/main" id="{3E2578EE-BF22-49D9-A621-C1A0C0B6C401}"/>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2">
            <a:extLst xmlns:a="http://schemas.openxmlformats.org/drawingml/2006/main">
              <a:ext uri="{FF2B5EF4-FFF2-40B4-BE49-F238E27FC236}">
                <a16:creationId xmlns:a16="http://schemas.microsoft.com/office/drawing/2014/main" id="{BB722E9C-28BE-4229-8E9B-F34EC6187E37}"/>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2 / 6</a:t>
            </a:r>
          </a:p>
        </p:txBody>
      </p:sp>
      <p:sp>
        <p:nvSpPr>
          <p:cNvPr id="5" name="timeline-intro">
            <a:extLst xmlns:a="http://schemas.openxmlformats.org/drawingml/2006/main">
              <a:ext uri="{FF2B5EF4-FFF2-40B4-BE49-F238E27FC236}">
                <a16:creationId xmlns:a16="http://schemas.microsoft.com/office/drawing/2014/main" id="{3D7BA2AE-3086-456E-9B22-DF1E71A4B399}"/>
              </a:ext>
            </a:extLst>
          </p:cNvPr>
          <p:cNvSpPr>
            <a:spLocks xmlns:a="http://schemas.openxmlformats.org/drawingml/2006/main" noGrp="1"/>
          </p:cNvSpPr>
          <p:nvPr/>
        </p:nvSpPr>
        <p:spPr>
          <a:xfrm xmlns:a="http://schemas.openxmlformats.org/drawingml/2006/main">
            <a:off x="762000" y="16954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243443"/>
                </a:solidFill>
                <a:latin typeface="Arial"/>
                <a:ea typeface="Arial"/>
                <a:cs typeface="Arial"/>
              </a:defRPr>
            </a:defPPr>
          </a:lstStyle>
          <a:p xmlns:a="http://schemas.openxmlformats.org/drawingml/2006/main">
            <a:pPr algn="l">
              <a:defRPr sz="2025" b="0">
                <a:solidFill>
                  <a:srgbClr val="243443"/>
                </a:solidFill>
                <a:latin typeface="Arial"/>
                <a:ea typeface="Arial"/>
                <a:cs typeface="Arial"/>
              </a:defRPr>
            </a:pPr>
            <a:r>
              <a:rPr sz="2025" b="0">
                <a:solidFill>
                  <a:srgbClr val="243443"/>
                </a:solidFill>
                <a:latin typeface="Arial"/>
                <a:ea typeface="Arial"/>
                <a:cs typeface="Arial"/>
              </a:rPr>
              <a:t>Train on earlier sales. Predict the next month.</a:t>
            </a:r>
          </a:p>
        </p:txBody>
      </p:sp>
      <p:sp>
        <p:nvSpPr>
          <p:cNvPr id="6" name="history-label">
            <a:extLst xmlns:a="http://schemas.openxmlformats.org/drawingml/2006/main">
              <a:ext uri="{FF2B5EF4-FFF2-40B4-BE49-F238E27FC236}">
                <a16:creationId xmlns:a16="http://schemas.microsoft.com/office/drawing/2014/main" id="{1791E65D-B2F4-46C1-BE49-DC0171A99E57}"/>
              </a:ext>
            </a:extLst>
          </p:cNvPr>
          <p:cNvSpPr>
            <a:spLocks xmlns:a="http://schemas.openxmlformats.org/drawingml/2006/main" noGrp="1"/>
          </p:cNvSpPr>
          <p:nvPr/>
        </p:nvSpPr>
        <p:spPr>
          <a:xfrm xmlns:a="http://schemas.openxmlformats.org/drawingml/2006/main">
            <a:off x="762000" y="2495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TRAINING HISTORY</a:t>
            </a:r>
          </a:p>
        </p:txBody>
      </p:sp>
      <p:sp>
        <p:nvSpPr>
          <p:cNvPr id="7" name="history-dates">
            <a:extLst xmlns:a="http://schemas.openxmlformats.org/drawingml/2006/main">
              <a:ext uri="{FF2B5EF4-FFF2-40B4-BE49-F238E27FC236}">
                <a16:creationId xmlns:a16="http://schemas.microsoft.com/office/drawing/2014/main" id="{A1E097F6-116D-4F24-8A6B-489F53FFFF27}"/>
              </a:ext>
            </a:extLst>
          </p:cNvPr>
          <p:cNvSpPr>
            <a:spLocks xmlns:a="http://schemas.openxmlformats.org/drawingml/2006/main" noGrp="1"/>
          </p:cNvSpPr>
          <p:nvPr/>
        </p:nvSpPr>
        <p:spPr>
          <a:xfrm xmlns:a="http://schemas.openxmlformats.org/drawingml/2006/main">
            <a:off x="7620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Earlier sales only</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within each fold</a:t>
            </a:r>
          </a:p>
        </p:txBody>
      </p:sp>
      <p:sp>
        <p:nvSpPr>
          <p:cNvPr id="8" name="validation-label">
            <a:extLst xmlns:a="http://schemas.openxmlformats.org/drawingml/2006/main">
              <a:ext uri="{FF2B5EF4-FFF2-40B4-BE49-F238E27FC236}">
                <a16:creationId xmlns:a16="http://schemas.microsoft.com/office/drawing/2014/main" id="{6374835D-ECB9-4871-9148-880F9B1A6963}"/>
              </a:ext>
            </a:extLst>
          </p:cNvPr>
          <p:cNvSpPr>
            <a:spLocks xmlns:a="http://schemas.openxmlformats.org/drawingml/2006/main" noGrp="1"/>
          </p:cNvSpPr>
          <p:nvPr/>
        </p:nvSpPr>
        <p:spPr>
          <a:xfrm xmlns:a="http://schemas.openxmlformats.org/drawingml/2006/main">
            <a:off x="4533900" y="24955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SIX WALK-FORWARD MONTHS</a:t>
            </a:r>
          </a:p>
        </p:txBody>
      </p:sp>
      <p:sp>
        <p:nvSpPr>
          <p:cNvPr id="9" name="validation-dates">
            <a:extLst xmlns:a="http://schemas.openxmlformats.org/drawingml/2006/main">
              <a:ext uri="{FF2B5EF4-FFF2-40B4-BE49-F238E27FC236}">
                <a16:creationId xmlns:a16="http://schemas.microsoft.com/office/drawing/2014/main" id="{DC59155C-66A8-47E5-A2A9-5EF2DE6F22BB}"/>
              </a:ext>
            </a:extLst>
          </p:cNvPr>
          <p:cNvSpPr>
            <a:spLocks xmlns:a="http://schemas.openxmlformats.org/drawingml/2006/main" noGrp="1"/>
          </p:cNvSpPr>
          <p:nvPr/>
        </p:nvSpPr>
        <p:spPr>
          <a:xfrm xmlns:a="http://schemas.openxmlformats.org/drawingml/2006/main">
            <a:off x="45339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Dec 2025 - May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10,069 homes per track</a:t>
            </a:r>
          </a:p>
        </p:txBody>
      </p:sp>
      <p:sp>
        <p:nvSpPr>
          <p:cNvPr id="10" name="test-label">
            <a:extLst xmlns:a="http://schemas.openxmlformats.org/drawingml/2006/main">
              <a:ext uri="{FF2B5EF4-FFF2-40B4-BE49-F238E27FC236}">
                <a16:creationId xmlns:a16="http://schemas.microsoft.com/office/drawing/2014/main" id="{4A356DB0-EC1F-48BC-BB2E-794212E5A4E7}"/>
              </a:ext>
            </a:extLst>
          </p:cNvPr>
          <p:cNvSpPr>
            <a:spLocks xmlns:a="http://schemas.openxmlformats.org/drawingml/2006/main" noGrp="1"/>
          </p:cNvSpPr>
          <p:nvPr/>
        </p:nvSpPr>
        <p:spPr>
          <a:xfrm xmlns:a="http://schemas.openxmlformats.org/drawingml/2006/main">
            <a:off x="8877300" y="2495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8324B"/>
                </a:solidFill>
                <a:latin typeface="Arial"/>
                <a:ea typeface="Arial"/>
                <a:cs typeface="Arial"/>
              </a:defRPr>
            </a:defPPr>
          </a:lstStyle>
          <a:p xmlns:a="http://schemas.openxmlformats.org/drawingml/2006/main">
            <a:pPr algn="l">
              <a:defRPr sz="1200" b="1">
                <a:solidFill>
                  <a:srgbClr val="18324B"/>
                </a:solidFill>
                <a:latin typeface="Arial"/>
                <a:ea typeface="Arial"/>
                <a:cs typeface="Arial"/>
              </a:defRPr>
            </a:pPr>
            <a:r>
              <a:rPr sz="1200" b="1">
                <a:solidFill>
                  <a:srgbClr val="18324B"/>
                </a:solidFill>
                <a:latin typeface="Arial"/>
                <a:ea typeface="Arial"/>
                <a:cs typeface="Arial"/>
              </a:rPr>
              <a:t>HIDDEN TEST</a:t>
            </a:r>
          </a:p>
        </p:txBody>
      </p:sp>
      <p:sp>
        <p:nvSpPr>
          <p:cNvPr id="11" name="test-dates">
            <a:extLst xmlns:a="http://schemas.openxmlformats.org/drawingml/2006/main">
              <a:ext uri="{FF2B5EF4-FFF2-40B4-BE49-F238E27FC236}">
                <a16:creationId xmlns:a16="http://schemas.microsoft.com/office/drawing/2014/main" id="{6F341F55-FC3E-4D90-B110-8D5268758661}"/>
              </a:ext>
            </a:extLst>
          </p:cNvPr>
          <p:cNvSpPr>
            <a:spLocks xmlns:a="http://schemas.openxmlformats.org/drawingml/2006/main" noGrp="1"/>
          </p:cNvSpPr>
          <p:nvPr/>
        </p:nvSpPr>
        <p:spPr>
          <a:xfrm xmlns:a="http://schemas.openxmlformats.org/drawingml/2006/main">
            <a:off x="8877300" y="2857500"/>
            <a:ext cx="304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Later hidden sales</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Sale prices unavailable</a:t>
            </a:r>
          </a:p>
        </p:txBody>
      </p:sp>
      <p:sp>
        <p:nvSpPr>
          <p:cNvPr id="12" name="timeline-history">
            <a:extLst xmlns:a="http://schemas.openxmlformats.org/drawingml/2006/main">
              <a:ext uri="{FF2B5EF4-FFF2-40B4-BE49-F238E27FC236}">
                <a16:creationId xmlns:a16="http://schemas.microsoft.com/office/drawing/2014/main" id="{2732FBB0-A1D6-4378-99CA-E904EBDEA493}"/>
              </a:ext>
            </a:extLst>
          </p:cNvPr>
          <p:cNvSpPr>
            <a:spLocks xmlns:a="http://schemas.openxmlformats.org/drawingml/2006/main" noGrp="1"/>
          </p:cNvSpPr>
          <p:nvPr/>
        </p:nvSpPr>
        <p:spPr>
          <a:xfrm xmlns:a="http://schemas.openxmlformats.org/drawingml/2006/main">
            <a:off x="838200" y="4495800"/>
            <a:ext cx="3562350" cy="0"/>
          </a:xfrm>
          <a:prstGeom xmlns:a="http://schemas.openxmlformats.org/drawingml/2006/main" prst="line">
            <a:avLst/>
          </a:prstGeom>
          <a:noFill xmlns:a="http://schemas.openxmlformats.org/drawingml/2006/main"/>
          <a:ln xmlns:a="http://schemas.openxmlformats.org/drawingml/2006/main" w="76200">
            <a:solidFill>
              <a:srgbClr val="147D80"/>
            </a:solidFill>
            <a:prstDash val="solid"/>
          </a:ln>
        </p:spPr>
      </p:sp>
      <p:sp>
        <p:nvSpPr>
          <p:cNvPr id="13" name="timeline-validation">
            <a:extLst xmlns:a="http://schemas.openxmlformats.org/drawingml/2006/main">
              <a:ext uri="{FF2B5EF4-FFF2-40B4-BE49-F238E27FC236}">
                <a16:creationId xmlns:a16="http://schemas.microsoft.com/office/drawing/2014/main" id="{9F12C5AF-5864-41B8-869A-F75D3B1DE3E3}"/>
              </a:ext>
            </a:extLst>
          </p:cNvPr>
          <p:cNvSpPr>
            <a:spLocks xmlns:a="http://schemas.openxmlformats.org/drawingml/2006/main" noGrp="1"/>
          </p:cNvSpPr>
          <p:nvPr/>
        </p:nvSpPr>
        <p:spPr>
          <a:xfrm xmlns:a="http://schemas.openxmlformats.org/drawingml/2006/main">
            <a:off x="4400550" y="4495800"/>
            <a:ext cx="3848100" cy="0"/>
          </a:xfrm>
          <a:prstGeom xmlns:a="http://schemas.openxmlformats.org/drawingml/2006/main" prst="line">
            <a:avLst/>
          </a:prstGeom>
          <a:noFill xmlns:a="http://schemas.openxmlformats.org/drawingml/2006/main"/>
          <a:ln xmlns:a="http://schemas.openxmlformats.org/drawingml/2006/main" w="76200">
            <a:solidFill>
              <a:srgbClr val="D35E3D"/>
            </a:solidFill>
            <a:prstDash val="solid"/>
          </a:ln>
        </p:spPr>
      </p:sp>
      <p:sp>
        <p:nvSpPr>
          <p:cNvPr id="14" name="timeline-test">
            <a:extLst xmlns:a="http://schemas.openxmlformats.org/drawingml/2006/main">
              <a:ext uri="{FF2B5EF4-FFF2-40B4-BE49-F238E27FC236}">
                <a16:creationId xmlns:a16="http://schemas.microsoft.com/office/drawing/2014/main" id="{1863B24C-78F1-4EB7-8EA3-43929D7FE0AF}"/>
              </a:ext>
            </a:extLst>
          </p:cNvPr>
          <p:cNvSpPr>
            <a:spLocks xmlns:a="http://schemas.openxmlformats.org/drawingml/2006/main" noGrp="1"/>
          </p:cNvSpPr>
          <p:nvPr/>
        </p:nvSpPr>
        <p:spPr>
          <a:xfrm xmlns:a="http://schemas.openxmlformats.org/drawingml/2006/main">
            <a:off x="8248650" y="4495800"/>
            <a:ext cx="3086100" cy="0"/>
          </a:xfrm>
          <a:prstGeom xmlns:a="http://schemas.openxmlformats.org/drawingml/2006/main" prst="line">
            <a:avLst/>
          </a:prstGeom>
          <a:noFill xmlns:a="http://schemas.openxmlformats.org/drawingml/2006/main"/>
          <a:ln xmlns:a="http://schemas.openxmlformats.org/drawingml/2006/main" w="76200">
            <a:solidFill>
              <a:srgbClr val="18324B"/>
            </a:solidFill>
            <a:prstDash val="solid"/>
          </a:ln>
        </p:spPr>
      </p:sp>
      <p:sp>
        <p:nvSpPr>
          <p:cNvPr id="15" name="validation-month-1">
            <a:extLst xmlns:a="http://schemas.openxmlformats.org/drawingml/2006/main">
              <a:ext uri="{FF2B5EF4-FFF2-40B4-BE49-F238E27FC236}">
                <a16:creationId xmlns:a16="http://schemas.microsoft.com/office/drawing/2014/main" id="{E2B4A0B6-8DF6-4741-9CDC-3F0FA412038E}"/>
              </a:ext>
            </a:extLst>
          </p:cNvPr>
          <p:cNvSpPr>
            <a:spLocks xmlns:a="http://schemas.openxmlformats.org/drawingml/2006/main" noGrp="1"/>
          </p:cNvSpPr>
          <p:nvPr/>
        </p:nvSpPr>
        <p:spPr>
          <a:xfrm xmlns:a="http://schemas.openxmlformats.org/drawingml/2006/main">
            <a:off x="45243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6" name="validation-month-2">
            <a:extLst xmlns:a="http://schemas.openxmlformats.org/drawingml/2006/main">
              <a:ext uri="{FF2B5EF4-FFF2-40B4-BE49-F238E27FC236}">
                <a16:creationId xmlns:a16="http://schemas.microsoft.com/office/drawing/2014/main" id="{78B24F34-CD04-4E64-9D5A-8F9F64196636}"/>
              </a:ext>
            </a:extLst>
          </p:cNvPr>
          <p:cNvSpPr>
            <a:spLocks xmlns:a="http://schemas.openxmlformats.org/drawingml/2006/main" noGrp="1"/>
          </p:cNvSpPr>
          <p:nvPr/>
        </p:nvSpPr>
        <p:spPr>
          <a:xfrm xmlns:a="http://schemas.openxmlformats.org/drawingml/2006/main">
            <a:off x="51720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7" name="validation-month-3">
            <a:extLst xmlns:a="http://schemas.openxmlformats.org/drawingml/2006/main">
              <a:ext uri="{FF2B5EF4-FFF2-40B4-BE49-F238E27FC236}">
                <a16:creationId xmlns:a16="http://schemas.microsoft.com/office/drawing/2014/main" id="{A0BBD697-B997-44D4-B373-69D52E36E6E9}"/>
              </a:ext>
            </a:extLst>
          </p:cNvPr>
          <p:cNvSpPr>
            <a:spLocks xmlns:a="http://schemas.openxmlformats.org/drawingml/2006/main" noGrp="1"/>
          </p:cNvSpPr>
          <p:nvPr/>
        </p:nvSpPr>
        <p:spPr>
          <a:xfrm xmlns:a="http://schemas.openxmlformats.org/drawingml/2006/main">
            <a:off x="58197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8" name="validation-month-4">
            <a:extLst xmlns:a="http://schemas.openxmlformats.org/drawingml/2006/main">
              <a:ext uri="{FF2B5EF4-FFF2-40B4-BE49-F238E27FC236}">
                <a16:creationId xmlns:a16="http://schemas.microsoft.com/office/drawing/2014/main" id="{46055E09-D5AB-426B-9000-3B7C9A6CEDBE}"/>
              </a:ext>
            </a:extLst>
          </p:cNvPr>
          <p:cNvSpPr>
            <a:spLocks xmlns:a="http://schemas.openxmlformats.org/drawingml/2006/main" noGrp="1"/>
          </p:cNvSpPr>
          <p:nvPr/>
        </p:nvSpPr>
        <p:spPr>
          <a:xfrm xmlns:a="http://schemas.openxmlformats.org/drawingml/2006/main">
            <a:off x="64674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9" name="validation-month-5">
            <a:extLst xmlns:a="http://schemas.openxmlformats.org/drawingml/2006/main">
              <a:ext uri="{FF2B5EF4-FFF2-40B4-BE49-F238E27FC236}">
                <a16:creationId xmlns:a16="http://schemas.microsoft.com/office/drawing/2014/main" id="{8EC4DDFF-EC6E-40E8-ACCF-4A4FE9C53450}"/>
              </a:ext>
            </a:extLst>
          </p:cNvPr>
          <p:cNvSpPr>
            <a:spLocks xmlns:a="http://schemas.openxmlformats.org/drawingml/2006/main" noGrp="1"/>
          </p:cNvSpPr>
          <p:nvPr/>
        </p:nvSpPr>
        <p:spPr>
          <a:xfrm xmlns:a="http://schemas.openxmlformats.org/drawingml/2006/main">
            <a:off x="71151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0" name="validation-month-6">
            <a:extLst xmlns:a="http://schemas.openxmlformats.org/drawingml/2006/main">
              <a:ext uri="{FF2B5EF4-FFF2-40B4-BE49-F238E27FC236}">
                <a16:creationId xmlns:a16="http://schemas.microsoft.com/office/drawing/2014/main" id="{1B7986DD-85C5-4120-985D-0F9C5F7D86D5}"/>
              </a:ext>
            </a:extLst>
          </p:cNvPr>
          <p:cNvSpPr>
            <a:spLocks xmlns:a="http://schemas.openxmlformats.org/drawingml/2006/main" noGrp="1"/>
          </p:cNvSpPr>
          <p:nvPr/>
        </p:nvSpPr>
        <p:spPr>
          <a:xfrm xmlns:a="http://schemas.openxmlformats.org/drawingml/2006/main">
            <a:off x="77628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1" name="timeline-training-foot">
            <a:extLst xmlns:a="http://schemas.openxmlformats.org/drawingml/2006/main">
              <a:ext uri="{FF2B5EF4-FFF2-40B4-BE49-F238E27FC236}">
                <a16:creationId xmlns:a16="http://schemas.microsoft.com/office/drawing/2014/main" id="{496A75F7-DB8F-435B-BBB6-5D903C93E391}"/>
              </a:ext>
            </a:extLst>
          </p:cNvPr>
          <p:cNvSpPr>
            <a:spLocks xmlns:a="http://schemas.openxmlformats.org/drawingml/2006/main" noGrp="1"/>
          </p:cNvSpPr>
          <p:nvPr/>
        </p:nvSpPr>
        <p:spPr>
          <a:xfrm xmlns:a="http://schemas.openxmlformats.org/drawingml/2006/main">
            <a:off x="762000" y="50673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Each fold uses only sales available before that month.</a:t>
            </a:r>
          </a:p>
        </p:txBody>
      </p:sp>
      <p:sp>
        <p:nvSpPr>
          <p:cNvPr id="22" name="timeline-caveat">
            <a:extLst xmlns:a="http://schemas.openxmlformats.org/drawingml/2006/main">
              <a:ext uri="{FF2B5EF4-FFF2-40B4-BE49-F238E27FC236}">
                <a16:creationId xmlns:a16="http://schemas.microsoft.com/office/drawing/2014/main" id="{974DB96C-26E5-4209-BC9F-5289968FA95A}"/>
              </a:ext>
            </a:extLst>
          </p:cNvPr>
          <p:cNvSpPr>
            <a:spLocks xmlns:a="http://schemas.openxmlformats.org/drawingml/2006/main" noGrp="1"/>
          </p:cNvSpPr>
          <p:nvPr/>
        </p:nvSpPr>
        <p:spPr>
          <a:xfrm xmlns:a="http://schemas.openxmlformats.org/drawingml/2006/main">
            <a:off x="7620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Synthetic transaction records. Community labels and coordinates do not map to real Toronto addresses.</a:t>
            </a:r>
          </a:p>
        </p:txBody>
      </p:sp>
    </p:spTree>
    <p:extLst>
      <p:ext uri="{BB962C8B-B14F-4D97-AF65-F5344CB8AC3E}">
        <p14:creationId xmlns:p14="http://schemas.microsoft.com/office/powerpoint/2010/main" val="1830488901"/>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title-3">
            <a:extLst xmlns:a="http://schemas.openxmlformats.org/drawingml/2006/main">
              <a:ext uri="{FF2B5EF4-FFF2-40B4-BE49-F238E27FC236}">
                <a16:creationId xmlns:a16="http://schemas.microsoft.com/office/drawing/2014/main" id="{AEF2A143-2431-4A9E-8A9B-AD70932485FC}"/>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two models keep inputs separate</a:t>
            </a:r>
          </a:p>
        </p:txBody>
      </p:sp>
      <p:sp>
        <p:nvSpPr>
          <p:cNvPr id="2" name="rule-3">
            <a:extLst xmlns:a="http://schemas.openxmlformats.org/drawingml/2006/main">
              <a:ext uri="{FF2B5EF4-FFF2-40B4-BE49-F238E27FC236}">
                <a16:creationId xmlns:a16="http://schemas.microsoft.com/office/drawing/2014/main" id="{EE47331E-66DB-4BF0-BFEB-AF6189F628EB}"/>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3">
            <a:extLst xmlns:a="http://schemas.openxmlformats.org/drawingml/2006/main">
              <a:ext uri="{FF2B5EF4-FFF2-40B4-BE49-F238E27FC236}">
                <a16:creationId xmlns:a16="http://schemas.microsoft.com/office/drawing/2014/main" id="{4ABD3C46-1C46-45F1-B36B-026D1DAE4A0E}"/>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3">
            <a:extLst xmlns:a="http://schemas.openxmlformats.org/drawingml/2006/main">
              <a:ext uri="{FF2B5EF4-FFF2-40B4-BE49-F238E27FC236}">
                <a16:creationId xmlns:a16="http://schemas.microsoft.com/office/drawing/2014/main" id="{EEF57AA4-A5A0-4EF3-A763-9F0A759F2FE4}"/>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3 / 6</a:t>
            </a:r>
          </a:p>
        </p:txBody>
      </p:sp>
      <p:sp>
        <p:nvSpPr>
          <p:cNvPr id="5" name="shared-label">
            <a:extLst xmlns:a="http://schemas.openxmlformats.org/drawingml/2006/main">
              <a:ext uri="{FF2B5EF4-FFF2-40B4-BE49-F238E27FC236}">
                <a16:creationId xmlns:a16="http://schemas.microsoft.com/office/drawing/2014/main" id="{45847C30-D245-4D51-9ADF-141511648FE2}"/>
              </a:ext>
            </a:extLst>
          </p:cNvPr>
          <p:cNvSpPr>
            <a:spLocks xmlns:a="http://schemas.openxmlformats.org/drawingml/2006/main" noGrp="1"/>
          </p:cNvSpPr>
          <p:nvPr/>
        </p:nvSpPr>
        <p:spPr>
          <a:xfrm xmlns:a="http://schemas.openxmlformats.org/drawingml/2006/main">
            <a:off x="781050" y="1752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BOTH TRACKS</a:t>
            </a:r>
          </a:p>
        </p:txBody>
      </p:sp>
      <p:sp>
        <p:nvSpPr>
          <p:cNvPr id="6" name="shared-features">
            <a:extLst xmlns:a="http://schemas.openxmlformats.org/drawingml/2006/main">
              <a:ext uri="{FF2B5EF4-FFF2-40B4-BE49-F238E27FC236}">
                <a16:creationId xmlns:a16="http://schemas.microsoft.com/office/drawing/2014/main" id="{E52A970A-FFCD-4B71-BABC-72097AB22689}"/>
              </a:ext>
            </a:extLst>
          </p:cNvPr>
          <p:cNvSpPr>
            <a:spLocks xmlns:a="http://schemas.openxmlformats.org/drawingml/2006/main" noGrp="1"/>
          </p:cNvSpPr>
          <p:nvPr/>
        </p:nvSpPr>
        <p:spPr>
          <a:xfrm xmlns:a="http://schemas.openxmlformats.org/drawingml/2006/main">
            <a:off x="781050" y="22098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43443"/>
                </a:solidFill>
                <a:latin typeface="Arial"/>
                <a:ea typeface="Arial"/>
                <a:cs typeface="Arial"/>
              </a:defRPr>
            </a:defPPr>
          </a:lstStyle>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Home area, rooms, parking</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Property type, house style</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Municipality, community</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Coordinates and listing month</a:t>
            </a:r>
          </a:p>
        </p:txBody>
      </p:sp>
      <p:sp>
        <p:nvSpPr>
          <p:cNvPr id="7" name="model-method">
            <a:extLst xmlns:a="http://schemas.openxmlformats.org/drawingml/2006/main">
              <a:ext uri="{FF2B5EF4-FFF2-40B4-BE49-F238E27FC236}">
                <a16:creationId xmlns:a16="http://schemas.microsoft.com/office/drawing/2014/main" id="{F434B70D-CD98-4AEB-85B7-F3389AEF1B9B}"/>
              </a:ext>
            </a:extLst>
          </p:cNvPr>
          <p:cNvSpPr>
            <a:spLocks xmlns:a="http://schemas.openxmlformats.org/drawingml/2006/main" noGrp="1"/>
          </p:cNvSpPr>
          <p:nvPr/>
        </p:nvSpPr>
        <p:spPr>
          <a:xfrm xmlns:a="http://schemas.openxmlformats.org/drawingml/2006/main">
            <a:off x="781050" y="44767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536575"/>
                </a:solidFill>
                <a:latin typeface="Arial"/>
                <a:ea typeface="Arial"/>
                <a:cs typeface="Arial"/>
              </a:defRPr>
            </a:defPPr>
          </a:lstStyle>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Histogram gradient boosting</a:t>
            </a:r>
          </a:p>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trained on log sale price</a:t>
            </a:r>
          </a:p>
        </p:txBody>
      </p:sp>
      <p:sp>
        <p:nvSpPr>
          <p:cNvPr id="8" name="feature-divider">
            <a:extLst xmlns:a="http://schemas.openxmlformats.org/drawingml/2006/main">
              <a:ext uri="{FF2B5EF4-FFF2-40B4-BE49-F238E27FC236}">
                <a16:creationId xmlns:a16="http://schemas.microsoft.com/office/drawing/2014/main" id="{3D089889-5DDD-40C8-9265-1F3933AC3A89}"/>
              </a:ext>
            </a:extLst>
          </p:cNvPr>
          <p:cNvSpPr>
            <a:spLocks xmlns:a="http://schemas.openxmlformats.org/drawingml/2006/main" noGrp="1"/>
          </p:cNvSpPr>
          <p:nvPr/>
        </p:nvSpPr>
        <p:spPr>
          <a:xfrm xmlns:a="http://schemas.openxmlformats.org/drawingml/2006/main">
            <a:off x="6096000" y="1752600"/>
            <a:ext cx="9525" cy="0"/>
          </a:xfrm>
          <a:prstGeom xmlns:a="http://schemas.openxmlformats.org/drawingml/2006/main" prst="line">
            <a:avLst/>
          </a:prstGeom>
          <a:noFill xmlns:a="http://schemas.openxmlformats.org/drawingml/2006/main"/>
          <a:ln xmlns:a="http://schemas.openxmlformats.org/drawingml/2006/main" w="9525">
            <a:solidFill>
              <a:srgbClr val="D7DFE4"/>
            </a:solidFill>
            <a:prstDash val="solid"/>
          </a:ln>
        </p:spPr>
      </p:sp>
      <p:sp>
        <p:nvSpPr>
          <p:cNvPr id="9" name="offmarket-only-label">
            <a:extLst xmlns:a="http://schemas.openxmlformats.org/drawingml/2006/main">
              <a:ext uri="{FF2B5EF4-FFF2-40B4-BE49-F238E27FC236}">
                <a16:creationId xmlns:a16="http://schemas.microsoft.com/office/drawing/2014/main" id="{CDDD1E57-E898-46D9-852D-C8CB9D38A901}"/>
              </a:ext>
            </a:extLst>
          </p:cNvPr>
          <p:cNvSpPr>
            <a:spLocks xmlns:a="http://schemas.openxmlformats.org/drawingml/2006/main" noGrp="1"/>
          </p:cNvSpPr>
          <p:nvPr/>
        </p:nvSpPr>
        <p:spPr>
          <a:xfrm xmlns:a="http://schemas.openxmlformats.org/drawingml/2006/main">
            <a:off x="6705600" y="19431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7D80"/>
                </a:solidFill>
                <a:latin typeface="Arial"/>
                <a:ea typeface="Arial"/>
                <a:cs typeface="Arial"/>
              </a:defRPr>
            </a:defPPr>
          </a:lstStyle>
          <a:p xmlns:a="http://schemas.openxmlformats.org/drawingml/2006/main">
            <a:pPr algn="l">
              <a:defRPr sz="1425" b="1">
                <a:solidFill>
                  <a:srgbClr val="147D80"/>
                </a:solidFill>
                <a:latin typeface="Arial"/>
                <a:ea typeface="Arial"/>
                <a:cs typeface="Arial"/>
              </a:defRPr>
            </a:pPr>
            <a:r>
              <a:rPr sz="1425" b="1">
                <a:solidFill>
                  <a:srgbClr val="147D80"/>
                </a:solidFill>
                <a:latin typeface="Arial"/>
                <a:ea typeface="Arial"/>
                <a:cs typeface="Arial"/>
              </a:rPr>
              <a:t>OFF-MARKET</a:t>
            </a:r>
          </a:p>
        </p:txBody>
      </p:sp>
      <p:sp>
        <p:nvSpPr>
          <p:cNvPr id="10" name="offmarket-only-copy">
            <a:extLst xmlns:a="http://schemas.openxmlformats.org/drawingml/2006/main">
              <a:ext uri="{FF2B5EF4-FFF2-40B4-BE49-F238E27FC236}">
                <a16:creationId xmlns:a16="http://schemas.microsoft.com/office/drawing/2014/main" id="{AD6AE9D8-87D3-4FDD-8D4D-1225D0830A1E}"/>
              </a:ext>
            </a:extLst>
          </p:cNvPr>
          <p:cNvSpPr>
            <a:spLocks xmlns:a="http://schemas.openxmlformats.org/drawingml/2006/main" noGrp="1"/>
          </p:cNvSpPr>
          <p:nvPr/>
        </p:nvSpPr>
        <p:spPr>
          <a:xfrm xmlns:a="http://schemas.openxmlformats.org/drawingml/2006/main">
            <a:off x="6705600" y="23431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No list-price input</a:t>
            </a:r>
          </a:p>
        </p:txBody>
      </p:sp>
      <p:sp>
        <p:nvSpPr>
          <p:cNvPr id="11" name="listaware-only-label">
            <a:extLst xmlns:a="http://schemas.openxmlformats.org/drawingml/2006/main">
              <a:ext uri="{FF2B5EF4-FFF2-40B4-BE49-F238E27FC236}">
                <a16:creationId xmlns:a16="http://schemas.microsoft.com/office/drawing/2014/main" id="{971DF155-1F0B-4BEF-859F-9C2C8F4BBFC1}"/>
              </a:ext>
            </a:extLst>
          </p:cNvPr>
          <p:cNvSpPr>
            <a:spLocks xmlns:a="http://schemas.openxmlformats.org/drawingml/2006/main" noGrp="1"/>
          </p:cNvSpPr>
          <p:nvPr/>
        </p:nvSpPr>
        <p:spPr>
          <a:xfrm xmlns:a="http://schemas.openxmlformats.org/drawingml/2006/main">
            <a:off x="6705600" y="34480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D35E3D"/>
                </a:solidFill>
                <a:latin typeface="Arial"/>
                <a:ea typeface="Arial"/>
                <a:cs typeface="Arial"/>
              </a:defRPr>
            </a:defPPr>
          </a:lstStyle>
          <a:p xmlns:a="http://schemas.openxmlformats.org/drawingml/2006/main">
            <a:pPr algn="l">
              <a:defRPr sz="1425" b="1">
                <a:solidFill>
                  <a:srgbClr val="D35E3D"/>
                </a:solidFill>
                <a:latin typeface="Arial"/>
                <a:ea typeface="Arial"/>
                <a:cs typeface="Arial"/>
              </a:defRPr>
            </a:pPr>
            <a:r>
              <a:rPr sz="1425" b="1">
                <a:solidFill>
                  <a:srgbClr val="D35E3D"/>
                </a:solidFill>
                <a:latin typeface="Arial"/>
                <a:ea typeface="Arial"/>
                <a:cs typeface="Arial"/>
              </a:rPr>
              <a:t>LIST-AWARE</a:t>
            </a:r>
          </a:p>
        </p:txBody>
      </p:sp>
      <p:sp>
        <p:nvSpPr>
          <p:cNvPr id="12" name="listaware-only-copy">
            <a:extLst xmlns:a="http://schemas.openxmlformats.org/drawingml/2006/main">
              <a:ext uri="{FF2B5EF4-FFF2-40B4-BE49-F238E27FC236}">
                <a16:creationId xmlns:a16="http://schemas.microsoft.com/office/drawing/2014/main" id="{E1AD6EB8-6E10-458B-82F5-1BFF59EFF3A0}"/>
              </a:ext>
            </a:extLst>
          </p:cNvPr>
          <p:cNvSpPr>
            <a:spLocks xmlns:a="http://schemas.openxmlformats.org/drawingml/2006/main" noGrp="1"/>
          </p:cNvSpPr>
          <p:nvPr/>
        </p:nvSpPr>
        <p:spPr>
          <a:xfrm xmlns:a="http://schemas.openxmlformats.org/drawingml/2006/main">
            <a:off x="6705600" y="38481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Adds the asking price</a:t>
            </a:r>
          </a:p>
        </p:txBody>
      </p:sp>
      <p:sp>
        <p:nvSpPr>
          <p:cNvPr id="13" name="category-finding-rule">
            <a:extLst xmlns:a="http://schemas.openxmlformats.org/drawingml/2006/main">
              <a:ext uri="{FF2B5EF4-FFF2-40B4-BE49-F238E27FC236}">
                <a16:creationId xmlns:a16="http://schemas.microsoft.com/office/drawing/2014/main" id="{9C698F41-E78D-4C51-92C1-E70BA61538A5}"/>
              </a:ext>
            </a:extLst>
          </p:cNvPr>
          <p:cNvSpPr>
            <a:spLocks xmlns:a="http://schemas.openxmlformats.org/drawingml/2006/main" noGrp="1"/>
          </p:cNvSpPr>
          <p:nvPr/>
        </p:nvSpPr>
        <p:spPr>
          <a:xfrm xmlns:a="http://schemas.openxmlformats.org/drawingml/2006/main">
            <a:off x="6705600" y="4819650"/>
            <a:ext cx="4381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14" name="frozen-version">
            <a:extLst xmlns:a="http://schemas.openxmlformats.org/drawingml/2006/main">
              <a:ext uri="{FF2B5EF4-FFF2-40B4-BE49-F238E27FC236}">
                <a16:creationId xmlns:a16="http://schemas.microsoft.com/office/drawing/2014/main" id="{58E85CC5-7521-43BC-97C4-95D84664B8A3}"/>
              </a:ext>
            </a:extLst>
          </p:cNvPr>
          <p:cNvSpPr>
            <a:spLocks xmlns:a="http://schemas.openxmlformats.org/drawingml/2006/main" noGrp="1"/>
          </p:cNvSpPr>
          <p:nvPr/>
        </p:nvSpPr>
        <p:spPr>
          <a:xfrm xmlns:a="http://schemas.openxmlformats.org/drawingml/2006/main">
            <a:off x="6705600" y="5010150"/>
            <a:ext cx="4572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24B"/>
                </a:solidFill>
                <a:latin typeface="Arial"/>
                <a:ea typeface="Arial"/>
                <a:cs typeface="Arial"/>
              </a:defRPr>
            </a:defPPr>
          </a:lstStyle>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FROZEN RELEASE</a:t>
            </a:r>
          </a:p>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Published structured model</a:t>
            </a:r>
          </a:p>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Remarks kept in experiment archive</a:t>
            </a:r>
          </a:p>
        </p:txBody>
      </p:sp>
    </p:spTree>
    <p:extLst>
      <p:ext uri="{BB962C8B-B14F-4D97-AF65-F5344CB8AC3E}">
        <p14:creationId xmlns:p14="http://schemas.microsoft.com/office/powerpoint/2010/main" val="244619595"/>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itle-4">
            <a:extLst xmlns:a="http://schemas.openxmlformats.org/drawingml/2006/main">
              <a:ext uri="{FF2B5EF4-FFF2-40B4-BE49-F238E27FC236}">
                <a16:creationId xmlns:a16="http://schemas.microsoft.com/office/drawing/2014/main" id="{A94346C7-015B-4213-B7C0-229C104F8965}"/>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frozen model beats both starters</a:t>
            </a:r>
          </a:p>
        </p:txBody>
      </p:sp>
      <p:sp>
        <p:nvSpPr>
          <p:cNvPr id="2" name="rule-4">
            <a:extLst xmlns:a="http://schemas.openxmlformats.org/drawingml/2006/main">
              <a:ext uri="{FF2B5EF4-FFF2-40B4-BE49-F238E27FC236}">
                <a16:creationId xmlns:a16="http://schemas.microsoft.com/office/drawing/2014/main" id="{1DE27C0D-AB73-425D-9302-000D27037F38}"/>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4">
            <a:extLst xmlns:a="http://schemas.openxmlformats.org/drawingml/2006/main">
              <a:ext uri="{FF2B5EF4-FFF2-40B4-BE49-F238E27FC236}">
                <a16:creationId xmlns:a16="http://schemas.microsoft.com/office/drawing/2014/main" id="{848639A7-29E4-486A-A144-A777D5009150}"/>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4">
            <a:extLst xmlns:a="http://schemas.openxmlformats.org/drawingml/2006/main">
              <a:ext uri="{FF2B5EF4-FFF2-40B4-BE49-F238E27FC236}">
                <a16:creationId xmlns:a16="http://schemas.microsoft.com/office/drawing/2014/main" id="{AD79A620-DB0A-4EEC-93A0-E2F005C68BA5}"/>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4 / 6</a:t>
            </a:r>
          </a:p>
        </p:txBody>
      </p:sp>
      <p:sp>
        <p:nvSpPr>
          <p:cNvPr id="5" name="results-subhead">
            <a:extLst xmlns:a="http://schemas.openxmlformats.org/drawingml/2006/main">
              <a:ext uri="{FF2B5EF4-FFF2-40B4-BE49-F238E27FC236}">
                <a16:creationId xmlns:a16="http://schemas.microsoft.com/office/drawing/2014/main" id="{B2E5F12C-A253-4EA9-AFF7-F073FC06DAA0}"/>
              </a:ext>
            </a:extLst>
          </p:cNvPr>
          <p:cNvSpPr>
            <a:spLocks xmlns:a="http://schemas.openxmlformats.org/drawingml/2006/main" noGrp="1"/>
          </p:cNvSpPr>
          <p:nvPr/>
        </p:nvSpPr>
        <p:spPr>
          <a:xfrm xmlns:a="http://schemas.openxmlformats.org/drawingml/2006/main">
            <a:off x="762000" y="16573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36575"/>
                </a:solidFill>
                <a:latin typeface="Arial"/>
                <a:ea typeface="Arial"/>
                <a:cs typeface="Arial"/>
              </a:defRPr>
            </a:defPPr>
          </a:lstStyle>
          <a:p xmlns:a="http://schemas.openxmlformats.org/drawingml/2006/main">
            <a:pPr algn="l">
              <a:defRPr sz="1575" b="0">
                <a:solidFill>
                  <a:srgbClr val="536575"/>
                </a:solidFill>
                <a:latin typeface="Arial"/>
                <a:ea typeface="Arial"/>
                <a:cs typeface="Arial"/>
              </a:defRPr>
            </a:pPr>
            <a:r>
              <a:rPr sz="1575" b="0">
                <a:solidFill>
                  <a:srgbClr val="536575"/>
                </a:solidFill>
                <a:latin typeface="Arial"/>
                <a:ea typeface="Arial"/>
                <a:cs typeface="Arial"/>
              </a:rPr>
              <a:t>MdAPE is the competition score; MAPE is the tie-breaker.</a:t>
            </a:r>
          </a:p>
        </p:txBody>
      </p:sp>
      <p:graphicFrame>
        <p:nvGraphicFramePr>
          <p:cNvPr id="6" name="">
            <a:extLst xmlns:a="http://schemas.openxmlformats.org/drawingml/2006/main">
              <a:ext uri="{FF2B5EF4-FFF2-40B4-BE49-F238E27FC236}">
                <a16:creationId xmlns:a16="http://schemas.microsoft.com/office/drawing/2014/main" id="{F58600C4-4F7F-46E5-8CC7-A2F96A34C5CF}"/>
              </a:ext>
            </a:extLst>
          </p:cNvPr>
          <p:cNvGraphicFramePr/>
          <p:nvPr/>
        </p:nvGraphicFramePr>
        <p:xfrm>
          <a:off xmlns:a="http://schemas.openxmlformats.org/drawingml/2006/main" x="762000" y="2266950"/>
          <a:ext xmlns:a="http://schemas.openxmlformats.org/drawingml/2006/main" cx="10668000" cy="2095500"/>
        </p:xfrm>
        <a:graphic xmlns:a="http://schemas.openxmlformats.org/drawingml/2006/main">
          <a:graphicData uri="http://schemas.openxmlformats.org/drawingml/2006/table">
            <a:tbl>
              <a:tblPr firstRow="1" bandRow="1"/>
              <a:tblGrid>
                <a:gridCol w="2667000"/>
                <a:gridCol w="2667000"/>
                <a:gridCol w="2667000"/>
                <a:gridCol w="2667000"/>
              </a:tblGrid>
              <a:tr h="698500">
                <a:tc>
                  <a:txBody>
                    <a:bodyPr lIns="95250" tIns="95250" rIns="95250" bIns="95250"/>
                    <a:lstStyle/>
                    <a:p>
                      <a:r>
                        <a:rPr sz="1500" b="1">
                          <a:solidFill>
                            <a:srgbClr val="FFFFFF"/>
                          </a:solidFill>
                          <a:latin typeface="Arial"/>
                          <a:ea typeface="Arial"/>
                          <a:cs typeface="Arial"/>
                        </a:rPr>
                        <a:t>Track</a:t>
                      </a:r>
                    </a:p>
                  </a:txBody>
                  <a:tcPr marL="91440" marR="91440" marT="45720" marB="45720" anchor="ctr">
                    <a:lnL w="9525">
                      <a:solidFill>
                        <a:srgbClr val="D7DFE4"/>
                      </a:solidFill>
                      <a:prstDash val="solid"/>
                    </a:lnL>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Starter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Frozen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Frozen MAPE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r>
              <a:tr h="698500">
                <a:tc>
                  <a:txBody>
                    <a:bodyPr lIns="95250" tIns="95250" rIns="95250" bIns="95250"/>
                    <a:lstStyle/>
                    <a:p>
                      <a:r>
                        <a:rPr sz="1575" b="1">
                          <a:solidFill>
                            <a:srgbClr val="243443"/>
                          </a:solidFill>
                          <a:latin typeface="Arial"/>
                          <a:ea typeface="Arial"/>
                          <a:cs typeface="Arial"/>
                        </a:rPr>
                        <a:t>Off-market</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20.8%</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10.60% (10.38–10.85)</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13.40% (13.17–13.65)</a:t>
                      </a:r>
                    </a:p>
                  </a:txBody>
                  <a:tcPr marL="91440" marR="91440" marT="45720" marB="45720" anchor="ctr">
                    <a:lnR w="9525">
                      <a:solidFill>
                        <a:srgbClr val="D7DFE4"/>
                      </a:solidFill>
                      <a:prstDash val="solid"/>
                    </a:lnR>
                    <a:lnB w="9525">
                      <a:solidFill>
                        <a:srgbClr val="D7DFE4"/>
                      </a:solidFill>
                      <a:prstDash val="solid"/>
                    </a:lnB>
                    <a:solidFill>
                      <a:srgbClr val="FFFFFF"/>
                    </a:solidFill>
                  </a:tcPr>
                </a:tc>
              </a:tr>
              <a:tr h="698500">
                <a:tc>
                  <a:txBody>
                    <a:bodyPr lIns="95250" tIns="95250" rIns="95250" bIns="95250"/>
                    <a:lstStyle/>
                    <a:p>
                      <a:r>
                        <a:rPr sz="1575" b="1">
                          <a:solidFill>
                            <a:srgbClr val="243443"/>
                          </a:solidFill>
                          <a:latin typeface="Arial"/>
                          <a:ea typeface="Arial"/>
                          <a:cs typeface="Arial"/>
                        </a:rPr>
                        <a:t>List-aware</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7.3%</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4.36% (4.26–4.46)</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5.57% (5.47–5.66)</a:t>
                      </a:r>
                    </a:p>
                  </a:txBody>
                  <a:tcPr marL="91440" marR="91440" marT="45720" marB="45720" anchor="ctr">
                    <a:lnR w="9525">
                      <a:solidFill>
                        <a:srgbClr val="D7DFE4"/>
                      </a:solidFill>
                      <a:prstDash val="solid"/>
                    </a:lnR>
                    <a:lnB w="9525">
                      <a:solidFill>
                        <a:srgbClr val="D7DFE4"/>
                      </a:solidFill>
                      <a:prstDash val="solid"/>
                    </a:lnB>
                    <a:solidFill>
                      <a:srgbClr val="E6F1F0"/>
                    </a:solidFill>
                  </a:tcPr>
                </a:tc>
              </a:tr>
            </a:tbl>
          </a:graphicData>
        </a:graphic>
      </p:graphicFrame>
      <p:sp>
        <p:nvSpPr>
          <p:cNvPr id="7" name="results-ci-note">
            <a:extLst xmlns:a="http://schemas.openxmlformats.org/drawingml/2006/main">
              <a:ext uri="{FF2B5EF4-FFF2-40B4-BE49-F238E27FC236}">
                <a16:creationId xmlns:a16="http://schemas.microsoft.com/office/drawing/2014/main" id="{2BCCC2BE-849A-4579-9D4D-710C8444FF5E}"/>
              </a:ext>
            </a:extLst>
          </p:cNvPr>
          <p:cNvSpPr>
            <a:spLocks xmlns:a="http://schemas.openxmlformats.org/drawingml/2006/main" noGrp="1"/>
          </p:cNvSpPr>
          <p:nvPr/>
        </p:nvSpPr>
        <p:spPr>
          <a:xfrm xmlns:a="http://schemas.openxmlformats.org/drawingml/2006/main">
            <a:off x="781050" y="4495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Parentheses show 95% home-bootstrap intervals. 10,069 validation homes per track.</a:t>
            </a:r>
          </a:p>
        </p:txBody>
      </p:sp>
      <p:sp>
        <p:nvSpPr>
          <p:cNvPr id="8" name="results-warning">
            <a:extLst xmlns:a="http://schemas.openxmlformats.org/drawingml/2006/main">
              <a:ext uri="{FF2B5EF4-FFF2-40B4-BE49-F238E27FC236}">
                <a16:creationId xmlns:a16="http://schemas.microsoft.com/office/drawing/2014/main" id="{AF8AFBC1-131A-494E-B75E-C1964F0361AB}"/>
              </a:ext>
            </a:extLst>
          </p:cNvPr>
          <p:cNvSpPr>
            <a:spLocks xmlns:a="http://schemas.openxmlformats.org/drawingml/2006/main" noGrp="1"/>
          </p:cNvSpPr>
          <p:nvPr/>
        </p:nvSpPr>
        <p:spPr>
          <a:xfrm xmlns:a="http://schemas.openxmlformats.org/drawingml/2006/main">
            <a:off x="781050" y="52006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D35E3D"/>
                </a:solidFill>
                <a:latin typeface="Arial"/>
                <a:ea typeface="Arial"/>
                <a:cs typeface="Arial"/>
              </a:defRPr>
            </a:defPPr>
          </a:lstStyle>
          <a:p xmlns:a="http://schemas.openxmlformats.org/drawingml/2006/main">
            <a:pPr algn="l">
              <a:defRPr sz="1875" b="1">
                <a:solidFill>
                  <a:srgbClr val="D35E3D"/>
                </a:solidFill>
                <a:latin typeface="Arial"/>
                <a:ea typeface="Arial"/>
                <a:cs typeface="Arial"/>
              </a:defRPr>
            </a:pPr>
            <a:r>
              <a:rPr sz="1875" b="1">
                <a:solidFill>
                  <a:srgbClr val="D35E3D"/>
                </a:solidFill>
                <a:latin typeface="Arial"/>
                <a:ea typeface="Arial"/>
                <a:cs typeface="Arial"/>
              </a:rPr>
              <a:t>Validation results only. Hidden-test performance is not yet known.</a:t>
            </a:r>
          </a:p>
        </p:txBody>
      </p:sp>
    </p:spTree>
    <p:extLst>
      <p:ext uri="{BB962C8B-B14F-4D97-AF65-F5344CB8AC3E}">
        <p14:creationId xmlns:p14="http://schemas.microsoft.com/office/powerpoint/2010/main" val="175090899"/>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title-5">
            <a:extLst xmlns:a="http://schemas.openxmlformats.org/drawingml/2006/main">
              <a:ext uri="{FF2B5EF4-FFF2-40B4-BE49-F238E27FC236}">
                <a16:creationId xmlns:a16="http://schemas.microsoft.com/office/drawing/2014/main" id="{C8B8A974-1424-47A2-B651-036AF4B178D1}"/>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Error rises at the price extremes</a:t>
            </a:r>
          </a:p>
        </p:txBody>
      </p:sp>
      <p:sp>
        <p:nvSpPr>
          <p:cNvPr id="2" name="rule-5">
            <a:extLst xmlns:a="http://schemas.openxmlformats.org/drawingml/2006/main">
              <a:ext uri="{FF2B5EF4-FFF2-40B4-BE49-F238E27FC236}">
                <a16:creationId xmlns:a16="http://schemas.microsoft.com/office/drawing/2014/main" id="{3408BB7E-EECB-4DC2-A0FD-0DC5B03B605A}"/>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5">
            <a:extLst xmlns:a="http://schemas.openxmlformats.org/drawingml/2006/main">
              <a:ext uri="{FF2B5EF4-FFF2-40B4-BE49-F238E27FC236}">
                <a16:creationId xmlns:a16="http://schemas.microsoft.com/office/drawing/2014/main" id="{1BBEB9CF-5F97-4623-9D84-5C6EB2A19A2A}"/>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5">
            <a:extLst xmlns:a="http://schemas.openxmlformats.org/drawingml/2006/main">
              <a:ext uri="{FF2B5EF4-FFF2-40B4-BE49-F238E27FC236}">
                <a16:creationId xmlns:a16="http://schemas.microsoft.com/office/drawing/2014/main" id="{1A9F1C7C-8202-4D8C-BF95-7327BEA85E5F}"/>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5 / 6</a:t>
            </a:r>
          </a:p>
        </p:txBody>
      </p:sp>
      <p:sp>
        <p:nvSpPr>
          <p:cNvPr id="5" name="error-chart-subhead">
            <a:extLst xmlns:a="http://schemas.openxmlformats.org/drawingml/2006/main">
              <a:ext uri="{FF2B5EF4-FFF2-40B4-BE49-F238E27FC236}">
                <a16:creationId xmlns:a16="http://schemas.microsoft.com/office/drawing/2014/main" id="{69C2F22E-88B1-4CD0-A545-20387B0D2987}"/>
              </a:ext>
            </a:extLst>
          </p:cNvPr>
          <p:cNvSpPr>
            <a:spLocks xmlns:a="http://schemas.openxmlformats.org/drawingml/2006/main" noGrp="1"/>
          </p:cNvSpPr>
          <p:nvPr/>
        </p:nvSpPr>
        <p:spPr>
          <a:xfrm xmlns:a="http://schemas.openxmlformats.org/drawingml/2006/main">
            <a:off x="762000" y="16573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Median absolute percentage error by shared sold-price decile</a:t>
            </a:r>
          </a:p>
        </p:txBody>
      </p:sp>
      <p:pic>
        <p:nvPicPr>
          <p:cNvPr id="6" name="">
            <a:extLst xmlns:a="http://schemas.openxmlformats.org/drawingml/2006/main">
              <a:ext uri="{FF2B5EF4-FFF2-40B4-BE49-F238E27FC236}">
                <a16:creationId xmlns:a16="http://schemas.microsoft.com/office/drawing/2014/main" id="{53B31679-1024-4DB5-A127-54EA52FF2863}"/>
              </a:ext>
            </a:extLst>
          </p:cNvPr>
          <p:cNvPicPr>
            <a:picLocks xmlns:a="http://schemas.openxmlformats.org/drawingml/2006/main" noChangeAspect="1"/>
          </p:cNvPicPr>
          <p:nvPr/>
        </p:nvPicPr>
        <p:blipFill>
          <a:blip xmlns:r="http://schemas.openxmlformats.org/officeDocument/2006/relationships" xmlns:a="http://schemas.openxmlformats.org/drawingml/2006/main" r:embed="Rd515a35d39004c06"/>
          <a:stretch xmlns:a="http://schemas.openxmlformats.org/drawingml/2006/main"/>
        </p:blipFill>
        <p:spPr>
          <a:xfrm xmlns:a="http://schemas.openxmlformats.org/drawingml/2006/main">
            <a:off x="1025932" y="2076450"/>
            <a:ext cx="7273111" cy="3771900"/>
          </a:xfrm>
          <a:prstGeom xmlns:a="http://schemas.openxmlformats.org/drawingml/2006/main" prst="rect">
            <a:avLst/>
          </a:prstGeom>
        </p:spPr>
      </p:pic>
      <p:sp>
        <p:nvSpPr>
          <p:cNvPr id="7" name="off-market-tail">
            <a:extLst xmlns:a="http://schemas.openxmlformats.org/drawingml/2006/main">
              <a:ext uri="{FF2B5EF4-FFF2-40B4-BE49-F238E27FC236}">
                <a16:creationId xmlns:a16="http://schemas.microsoft.com/office/drawing/2014/main" id="{A60C5E18-68B8-42C8-A91C-31AAEE5B06C4}"/>
              </a:ext>
            </a:extLst>
          </p:cNvPr>
          <p:cNvSpPr>
            <a:spLocks xmlns:a="http://schemas.openxmlformats.org/drawingml/2006/main" noGrp="1"/>
          </p:cNvSpPr>
          <p:nvPr/>
        </p:nvSpPr>
        <p:spPr>
          <a:xfrm xmlns:a="http://schemas.openxmlformats.org/drawingml/2006/main">
            <a:off x="8858250" y="2781300"/>
            <a:ext cx="2571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7D80"/>
                </a:solidFill>
                <a:latin typeface="Arial"/>
                <a:ea typeface="Arial"/>
                <a:cs typeface="Arial"/>
              </a:defRPr>
            </a:defPPr>
          </a:lstStyle>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OFF-MARKET</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13.10% lowest decile</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16.55% highest decile</a:t>
            </a:r>
          </a:p>
        </p:txBody>
      </p:sp>
      <p:sp>
        <p:nvSpPr>
          <p:cNvPr id="8" name="tail-divider">
            <a:extLst xmlns:a="http://schemas.openxmlformats.org/drawingml/2006/main">
              <a:ext uri="{FF2B5EF4-FFF2-40B4-BE49-F238E27FC236}">
                <a16:creationId xmlns:a16="http://schemas.microsoft.com/office/drawing/2014/main" id="{4FB504DB-8C4D-48B9-8A08-CF8FC3926E4B}"/>
              </a:ext>
            </a:extLst>
          </p:cNvPr>
          <p:cNvSpPr>
            <a:spLocks xmlns:a="http://schemas.openxmlformats.org/drawingml/2006/main" noGrp="1"/>
          </p:cNvSpPr>
          <p:nvPr/>
        </p:nvSpPr>
        <p:spPr>
          <a:xfrm xmlns:a="http://schemas.openxmlformats.org/drawingml/2006/main">
            <a:off x="8858250" y="4305300"/>
            <a:ext cx="2476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list-aware-tail">
            <a:extLst xmlns:a="http://schemas.openxmlformats.org/drawingml/2006/main">
              <a:ext uri="{FF2B5EF4-FFF2-40B4-BE49-F238E27FC236}">
                <a16:creationId xmlns:a16="http://schemas.microsoft.com/office/drawing/2014/main" id="{DB815810-3E5B-4555-8EBF-0DB19B237AE2}"/>
              </a:ext>
            </a:extLst>
          </p:cNvPr>
          <p:cNvSpPr>
            <a:spLocks xmlns:a="http://schemas.openxmlformats.org/drawingml/2006/main" noGrp="1"/>
          </p:cNvSpPr>
          <p:nvPr/>
        </p:nvSpPr>
        <p:spPr>
          <a:xfrm xmlns:a="http://schemas.openxmlformats.org/drawingml/2006/main">
            <a:off x="8858250" y="4552950"/>
            <a:ext cx="2571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D35E3D"/>
                </a:solidFill>
                <a:latin typeface="Arial"/>
                <a:ea typeface="Arial"/>
                <a:cs typeface="Arial"/>
              </a:defRPr>
            </a:defPPr>
          </a:lstStyle>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LIST-AWARE</a:t>
            </a:r>
          </a:p>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5.79% highest decile</a:t>
            </a:r>
          </a:p>
        </p:txBody>
      </p:sp>
      <p:sp>
        <p:nvSpPr>
          <p:cNvPr id="10" name="tail-sample-note">
            <a:extLst xmlns:a="http://schemas.openxmlformats.org/drawingml/2006/main">
              <a:ext uri="{FF2B5EF4-FFF2-40B4-BE49-F238E27FC236}">
                <a16:creationId xmlns:a16="http://schemas.microsoft.com/office/drawing/2014/main" id="{8B261304-33CE-421E-A5B6-D33B6F838AA3}"/>
              </a:ext>
            </a:extLst>
          </p:cNvPr>
          <p:cNvSpPr>
            <a:spLocks xmlns:a="http://schemas.openxmlformats.org/drawingml/2006/main" noGrp="1"/>
          </p:cNvSpPr>
          <p:nvPr/>
        </p:nvSpPr>
        <p:spPr>
          <a:xfrm xmlns:a="http://schemas.openxmlformats.org/drawingml/2006/main">
            <a:off x="781050" y="59436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36575"/>
                </a:solidFill>
                <a:latin typeface="Arial"/>
                <a:ea typeface="Arial"/>
                <a:cs typeface="Arial"/>
              </a:defRPr>
            </a:defPPr>
          </a:lstStyle>
          <a:p xmlns:a="http://schemas.openxmlformats.org/drawingml/2006/main">
            <a:pPr algn="l">
              <a:defRPr sz="1275" b="0">
                <a:solidFill>
                  <a:srgbClr val="536575"/>
                </a:solidFill>
                <a:latin typeface="Arial"/>
                <a:ea typeface="Arial"/>
                <a:cs typeface="Arial"/>
              </a:defRPr>
            </a:pPr>
            <a:r>
              <a:rPr sz="1275" b="0">
                <a:solidFill>
                  <a:srgbClr val="536575"/>
                </a:solidFill>
                <a:latin typeface="Arial"/>
                <a:ea typeface="Arial"/>
                <a:cs typeface="Arial"/>
              </a:rPr>
              <a:t>Price segments use the same frozen walk-forward predictions as the headline scores.</a:t>
            </a:r>
          </a:p>
        </p:txBody>
      </p:sp>
    </p:spTree>
    <p:extLst>
      <p:ext uri="{BB962C8B-B14F-4D97-AF65-F5344CB8AC3E}">
        <p14:creationId xmlns:p14="http://schemas.microsoft.com/office/powerpoint/2010/main" val="1760982743"/>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90A7FEBF-B619-415B-B81C-DDD3EF06CF47}"/>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Use the result within its limits</a:t>
            </a:r>
          </a:p>
        </p:txBody>
      </p:sp>
      <p:sp>
        <p:nvSpPr>
          <p:cNvPr id="2" name="rule-6">
            <a:extLst xmlns:a="http://schemas.openxmlformats.org/drawingml/2006/main">
              <a:ext uri="{FF2B5EF4-FFF2-40B4-BE49-F238E27FC236}">
                <a16:creationId xmlns:a16="http://schemas.microsoft.com/office/drawing/2014/main" id="{6AC9479C-20E8-4F52-B32B-C52F5CF59FA9}"/>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6">
            <a:extLst xmlns:a="http://schemas.openxmlformats.org/drawingml/2006/main">
              <a:ext uri="{FF2B5EF4-FFF2-40B4-BE49-F238E27FC236}">
                <a16:creationId xmlns:a16="http://schemas.microsoft.com/office/drawing/2014/main" id="{1CA3DBE4-1A99-4B2A-9AE6-E648AED191D9}"/>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6">
            <a:extLst xmlns:a="http://schemas.openxmlformats.org/drawingml/2006/main">
              <a:ext uri="{FF2B5EF4-FFF2-40B4-BE49-F238E27FC236}">
                <a16:creationId xmlns:a16="http://schemas.microsoft.com/office/drawing/2014/main" id="{D5ACE2BA-EC18-4A96-81F4-FE491F8D9B10}"/>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6 / 6</a:t>
            </a:r>
          </a:p>
        </p:txBody>
      </p:sp>
      <p:sp>
        <p:nvSpPr>
          <p:cNvPr id="5" name="takeaway-main">
            <a:extLst xmlns:a="http://schemas.openxmlformats.org/drawingml/2006/main">
              <a:ext uri="{FF2B5EF4-FFF2-40B4-BE49-F238E27FC236}">
                <a16:creationId xmlns:a16="http://schemas.microsoft.com/office/drawing/2014/main" id="{93F16543-E64D-46B1-B235-9B058F3ED7E5}"/>
              </a:ext>
            </a:extLst>
          </p:cNvPr>
          <p:cNvSpPr>
            <a:spLocks xmlns:a="http://schemas.openxmlformats.org/drawingml/2006/main" noGrp="1"/>
          </p:cNvSpPr>
          <p:nvPr/>
        </p:nvSpPr>
        <p:spPr>
          <a:xfrm xmlns:a="http://schemas.openxmlformats.org/drawingml/2006/main">
            <a:off x="762000" y="1771650"/>
            <a:ext cx="619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8324B"/>
                </a:solidFill>
                <a:latin typeface="Arial"/>
                <a:ea typeface="Arial"/>
                <a:cs typeface="Arial"/>
              </a:defRPr>
            </a:defPPr>
          </a:lstStyle>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A stronger first estimate</a:t>
            </a:r>
          </a:p>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for this synthetic benchmark</a:t>
            </a:r>
          </a:p>
        </p:txBody>
      </p:sp>
      <p:sp>
        <p:nvSpPr>
          <p:cNvPr id="6" name="limits-label">
            <a:extLst xmlns:a="http://schemas.openxmlformats.org/drawingml/2006/main">
              <a:ext uri="{FF2B5EF4-FFF2-40B4-BE49-F238E27FC236}">
                <a16:creationId xmlns:a16="http://schemas.microsoft.com/office/drawing/2014/main" id="{A729DCDF-1745-4C7E-8A3F-B1B148806D08}"/>
              </a:ext>
            </a:extLst>
          </p:cNvPr>
          <p:cNvSpPr>
            <a:spLocks xmlns:a="http://schemas.openxmlformats.org/drawingml/2006/main" noGrp="1"/>
          </p:cNvSpPr>
          <p:nvPr/>
        </p:nvSpPr>
        <p:spPr>
          <a:xfrm xmlns:a="http://schemas.openxmlformats.org/drawingml/2006/main">
            <a:off x="762000" y="3429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LIMITS</a:t>
            </a:r>
          </a:p>
        </p:txBody>
      </p:sp>
      <p:sp>
        <p:nvSpPr>
          <p:cNvPr id="7" name="limits-copy">
            <a:extLst xmlns:a="http://schemas.openxmlformats.org/drawingml/2006/main">
              <a:ext uri="{FF2B5EF4-FFF2-40B4-BE49-F238E27FC236}">
                <a16:creationId xmlns:a16="http://schemas.microsoft.com/office/drawing/2014/main" id="{3F30617A-FD27-42D5-B043-8CC8C49E2F23}"/>
              </a:ext>
            </a:extLst>
          </p:cNvPr>
          <p:cNvSpPr>
            <a:spLocks xmlns:a="http://schemas.openxmlformats.org/drawingml/2006/main" noGrp="1"/>
          </p:cNvSpPr>
          <p:nvPr/>
        </p:nvSpPr>
        <p:spPr>
          <a:xfrm xmlns:a="http://schemas.openxmlformats.org/drawingml/2006/main">
            <a:off x="762000" y="3790950"/>
            <a:ext cx="8953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Synthetic communities and coordinates do not map to Toronto.</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Six validation months may differ from the hidden period.</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Home-bootstrap intervals do not capture shared monthly shocks.</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Corrected remarks intervals include zero on both tracks.</a:t>
            </a:r>
          </a:p>
        </p:txBody>
      </p:sp>
      <p:sp>
        <p:nvSpPr>
          <p:cNvPr id="8" name="next-step-divider">
            <a:extLst xmlns:a="http://schemas.openxmlformats.org/drawingml/2006/main">
              <a:ext uri="{FF2B5EF4-FFF2-40B4-BE49-F238E27FC236}">
                <a16:creationId xmlns:a16="http://schemas.microsoft.com/office/drawing/2014/main" id="{DA3C6E95-B3A1-46DE-8474-BAF22147E758}"/>
              </a:ext>
            </a:extLst>
          </p:cNvPr>
          <p:cNvSpPr>
            <a:spLocks xmlns:a="http://schemas.openxmlformats.org/drawingml/2006/main" noGrp="1"/>
          </p:cNvSpPr>
          <p:nvPr/>
        </p:nvSpPr>
        <p:spPr>
          <a:xfrm xmlns:a="http://schemas.openxmlformats.org/drawingml/2006/main">
            <a:off x="762000" y="5524500"/>
            <a:ext cx="106680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next-step">
            <a:extLst xmlns:a="http://schemas.openxmlformats.org/drawingml/2006/main">
              <a:ext uri="{FF2B5EF4-FFF2-40B4-BE49-F238E27FC236}">
                <a16:creationId xmlns:a16="http://schemas.microsoft.com/office/drawing/2014/main" id="{61434CB4-4140-4835-82A0-E775ADB72188}"/>
              </a:ext>
            </a:extLst>
          </p:cNvPr>
          <p:cNvSpPr>
            <a:spLocks xmlns:a="http://schemas.openxmlformats.org/drawingml/2006/main" noGrp="1"/>
          </p:cNvSpPr>
          <p:nvPr/>
        </p:nvSpPr>
        <p:spPr>
          <a:xfrm xmlns:a="http://schemas.openxmlformats.org/drawingml/2006/main">
            <a:off x="762000" y="575310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7D80"/>
                </a:solidFill>
                <a:latin typeface="Arial"/>
                <a:ea typeface="Arial"/>
                <a:cs typeface="Arial"/>
              </a:defRPr>
            </a:defPPr>
          </a:lstStyle>
          <a:p xmlns:a="http://schemas.openxmlformats.org/drawingml/2006/main">
            <a:pPr algn="l">
              <a:defRPr sz="1500" b="1">
                <a:solidFill>
                  <a:srgbClr val="147D80"/>
                </a:solidFill>
                <a:latin typeface="Arial"/>
                <a:ea typeface="Arial"/>
                <a:cs typeface="Arial"/>
              </a:defRPr>
            </a:pPr>
            <a:r>
              <a:rPr sz="1500" b="1">
                <a:solidFill>
                  <a:srgbClr val="147D80"/>
                </a:solidFill>
                <a:latin typeface="Arial"/>
                <a:ea typeface="Arial"/>
                <a:cs typeface="Arial"/>
              </a:rPr>
              <a:t>Next test: price-tail calibration using forward-only predictions.</a:t>
            </a:r>
          </a:p>
        </p:txBody>
      </p:sp>
    </p:spTree>
    <p:extLst>
      <p:ext uri="{BB962C8B-B14F-4D97-AF65-F5344CB8AC3E}">
        <p14:creationId xmlns:p14="http://schemas.microsoft.com/office/powerpoint/2010/main" val="288349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2026-10-18T20:03:08.8070000Z</dcterms:created>
  <dcterms:modified xsi:type="dcterms:W3CDTF">2026-10-18T20:03:08.8070000Z</dcterms:modified>
</coreProperties>
</file>