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b3779579c6450e" /><Relationship Type="http://schemas.openxmlformats.org/officeDocument/2006/relationships/extended-properties" Target="/docProps/app.xml" Id="R9b0b4cd1f75043af" /><Relationship Type="http://schemas.openxmlformats.org/officeDocument/2006/relationships/officeDocument" Target="/ppt/presentation.xml" Id="R2aa8004e81ae43d9" /></Relationships>
</file>

<file path=ppt/presentation.xml><?xml version="1.0" encoding="utf-8"?>
<p:presentation xmlns:p="http://schemas.openxmlformats.org/presentationml/2006/main">
  <p:sldMasterIdLst>
    <p:sldMasterId xmlns:r="http://schemas.openxmlformats.org/officeDocument/2006/relationships" id="2147483648" r:id="Rdbd71d10a95a4ad5"/>
  </p:sldMasterIdLst>
  <p:notesMasterIdLst>
    <p:notesMasterId xmlns:r="http://schemas.openxmlformats.org/officeDocument/2006/relationships" r:id="R67b3294ee98c4f64"/>
  </p:notesMasterIdLst>
  <p:sldIdLst>
    <p:sldId xmlns:r="http://schemas.openxmlformats.org/officeDocument/2006/relationships" id="256" r:id="R7ac2244f9d524e78"/>
    <p:sldId xmlns:r="http://schemas.openxmlformats.org/officeDocument/2006/relationships" id="257" r:id="Rbf25ab71bb30462c"/>
    <p:sldId xmlns:r="http://schemas.openxmlformats.org/officeDocument/2006/relationships" id="258" r:id="R90bdc8b4fc444630"/>
    <p:sldId xmlns:r="http://schemas.openxmlformats.org/officeDocument/2006/relationships" id="259" r:id="R69ccc16200914389"/>
    <p:sldId xmlns:r="http://schemas.openxmlformats.org/officeDocument/2006/relationships" id="260" r:id="Ra26dacfae6c04454"/>
    <p:sldId xmlns:r="http://schemas.openxmlformats.org/officeDocument/2006/relationships" id="261" r:id="R87ac14e49aa545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21e0185ab2410c" /><Relationship Type="http://schemas.openxmlformats.org/officeDocument/2006/relationships/slideMaster" Target="/ppt/slideMasters/slideMaster1.xml" Id="Rdbd71d10a95a4ad5" /><Relationship Type="http://schemas.openxmlformats.org/officeDocument/2006/relationships/notesMaster" Target="/ppt/notesMasters/notesMaster1.xml" Id="R67b3294ee98c4f64" /><Relationship Type="http://schemas.openxmlformats.org/officeDocument/2006/relationships/presProps" Target="/ppt/presProps.xml" Id="R01305f8bd1fc483b" /><Relationship Type="http://schemas.openxmlformats.org/officeDocument/2006/relationships/tableStyles" Target="/ppt/tableStyles.xml" Id="Re5be4c33d4c34ca9" /><Relationship Type="http://schemas.openxmlformats.org/officeDocument/2006/relationships/slide" Target="/ppt/slides/slide1.xml" Id="R7ac2244f9d524e78" /><Relationship Type="http://schemas.openxmlformats.org/officeDocument/2006/relationships/slide" Target="/ppt/slides/slide2.xml" Id="Rbf25ab71bb30462c" /><Relationship Type="http://schemas.openxmlformats.org/officeDocument/2006/relationships/slide" Target="/ppt/slides/slide3.xml" Id="R90bdc8b4fc444630" /><Relationship Type="http://schemas.openxmlformats.org/officeDocument/2006/relationships/slide" Target="/ppt/slides/slide4.xml" Id="R69ccc16200914389" /><Relationship Type="http://schemas.openxmlformats.org/officeDocument/2006/relationships/slide" Target="/ppt/slides/slide5.xml" Id="Ra26dacfae6c04454" /><Relationship Type="http://schemas.openxmlformats.org/officeDocument/2006/relationships/slide" Target="/ppt/slides/slide6.xml" Id="R87ac14e49aa545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cac6d818204f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e7f72b67ae49dc" /><Relationship Type="http://schemas.openxmlformats.org/officeDocument/2006/relationships/notesMaster" Target="/ppt/notesMasters/notesMaster1.xml" Id="R6bc6e65861f7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5a57b8dc364fb6" /><Relationship Type="http://schemas.openxmlformats.org/officeDocument/2006/relationships/notesMaster" Target="/ppt/notesMasters/notesMaster1.xml" Id="R1ebd3f280e4c45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f38569001940e8" /><Relationship Type="http://schemas.openxmlformats.org/officeDocument/2006/relationships/notesMaster" Target="/ppt/notesMasters/notesMaster1.xml" Id="Rf9cf0579714348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ff94aec0554455" /><Relationship Type="http://schemas.openxmlformats.org/officeDocument/2006/relationships/notesMaster" Target="/ppt/notesMasters/notesMaster1.xml" Id="R63a122d5634741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d191a779b34f36" /><Relationship Type="http://schemas.openxmlformats.org/officeDocument/2006/relationships/notesMaster" Target="/ppt/notesMasters/notesMaster1.xml" Id="R73d83c4ba4264a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4596d3579d4250" /><Relationship Type="http://schemas.openxmlformats.org/officeDocument/2006/relationships/notesMaster" Target="/ppt/notesMasters/notesMaster1.xml" Id="R614245556a4f4e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 estimate can answer two different questions. Before the owner lists, there is no asking price to guide the estimate. After listing, the model can also use the asking price. We kept those tasks separate because an estimate that sees list price cannot answer the off-market question. Off-market is also the harder scoring track, so that is where we focused most of our feature work.</a:t>
            </a:r>
          </a:p>
          <a:p xmlns:a="http://schemas.openxmlformats.org/drawingml/2006/main">
            <a:r>
              <a:t/>
            </a:r>
          </a:p>
          <a:p xmlns:a="http://schemas.openxmlformats.org/drawingml/2006/main">
            <a:r>
              <a:t>Source: Official handout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provides synthetic Toronto-style transaction data. We tested the model with six walk-forward monthly windows. In each window, we trained on sales before the month and predicted sales in that month, for 10,069 homes per track overall. This matches the direction of the real task: predict later outcomes from earlier information. We did not use hidden sale prices or outside records.</a:t>
            </a:r>
          </a:p>
          <a:p xmlns:a="http://schemas.openxmlformats.org/drawingml/2006/main">
            <a:r>
              <a:t/>
            </a:r>
          </a:p>
          <a:p xmlns:a="http://schemas.openxmlformats.org/drawingml/2006/main">
            <a:r>
              <a:t>Source: Official starter README and handout: https://github.com/erwinzhang7/SSU-Data-Dash and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home size, rooms, parking, location coordinates, property type, and listing time. We added house style, municipality, and community as native categorical features. The model learns their category values from each training window, and treats an unseen value as missing. The list-aware model also receives list price. The off-market model never sees it. Both models predict log sale price with histogram gradient boosting. In paired comparisons on the same validation homes, adding the three categories reduced MdAPE by 3.80 percentage points off-market and 0.19 points list-aware.</a:t>
            </a:r>
          </a:p>
          <a:p xmlns:a="http://schemas.openxmlformats.org/drawingml/2006/main">
            <a:r>
              <a:t/>
            </a:r>
          </a:p>
          <a:p xmlns:a="http://schemas.openxmlformats.org/drawingml/2006/main">
            <a:r>
              <a:t>Source: Feature and model definitions: https://github.com/erwinzhang7/SSU-Data-Dash/blob/main/features.py and https://github.com/erwinzhang7/SSU-Data-Dash/blob/main/models.py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walk-forward validation, off-market MdAPE fell from the starter's 20.8 percent to 10.60 percent. List-aware MdAPE fell from 7.3 percent to 4.36 percent. Adding the three categories to our numeric feature model reduced MdAPE by a further 3.80 percentage points off-market and 0.19 points list-aware in paired bootstrap comparisons. These are validation results, not a claim about the hidden test.</a:t>
            </a:r>
          </a:p>
          <a:p xmlns:a="http://schemas.openxmlformats.org/drawingml/2006/main">
            <a:r>
              <a:t/>
            </a:r>
          </a:p>
          <a:p xmlns:a="http://schemas.openxmlformats.org/drawingml/2006/main">
            <a:r>
              <a:t>Source: Official starter baselines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error chart shows a remaining weakness. Off-market MdAPE is 13.10 percent in the cheapest price decile and 16.55 percent in the most expensive, versus roughly 8 to 12 percent through the middle. List-aware error is lower overall, but rises to 5.79 percent in the top decile. Off-market Co-op Apt has 14.33 percent MdAPE, but that estimate comes from only 48 validation homes, so we would not overinterpret it.</a:t>
            </a:r>
          </a:p>
          <a:p xmlns:a="http://schemas.openxmlformats.org/drawingml/2006/main">
            <a:r>
              <a:t/>
            </a:r>
          </a:p>
          <a:p xmlns:a="http://schemas.openxmlformats.org/drawingml/2006/main">
            <a:r>
              <a:t>Source: Computed from our six-month walk-forward validation predictions; source file is the project validation output generated by `python run.py validate`.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result is a much better off-market estimate without using asking price. The main limit is that this is a synthetic dataset, and its community names and coordinates do not match real Toronto maps. The hidden period may also behave differently from the validation months. We would present this model as a starting estimate, not an appraisal, and next test community comparables built only from sales available before each prediction date. Thank you.</a:t>
            </a:r>
          </a:p>
          <a:p xmlns:a="http://schemas.openxmlformats.org/drawingml/2006/main">
            <a:r>
              <a:t/>
            </a:r>
          </a:p>
          <a:p xmlns:a="http://schemas.openxmlformats.org/drawingml/2006/main">
            <a:r>
              <a:t>Source: Official handout on synthetic data and rules: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ebf27443c64b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47074d32104e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79e737e66945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2525eaf0b140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2836faf12f45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07ce38d1f149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965881-2689-4C05-AC37-FFAE8B94D8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3A85B8-960F-4584-A604-2497B72E41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595B78-6F9E-4AB0-86C3-597D5D465B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A9CCE-1118-48C8-BADA-D82492842D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C79EC1-35A6-4970-BB9E-5B80C95420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799D7ED-C6DE-49B2-AF20-1CA611B452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5CF46D-0D1A-4D77-B961-F127065B05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9F0C76E-E1AA-40F3-AF3C-9F8AEADBD2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132EDE-AB84-45C0-89ED-E47ACDE2DB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00F384-3FBB-46CE-B67B-BC00192C1C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e81d12c6d9471b" /><Relationship Type="http://schemas.openxmlformats.org/officeDocument/2006/relationships/slideLayout" Target="/ppt/slideLayouts/slideLayout1.xml" Id="R1e3790aff0324bf4" /><Relationship Type="http://schemas.openxmlformats.org/officeDocument/2006/relationships/slideLayout" Target="/ppt/slideLayouts/slideLayout2.xml" Id="R7aeca989415e4cad" /><Relationship Type="http://schemas.openxmlformats.org/officeDocument/2006/relationships/slideLayout" Target="/ppt/slideLayouts/slideLayout3.xml" Id="Rbcd2700259ef4858" /><Relationship Type="http://schemas.openxmlformats.org/officeDocument/2006/relationships/slideLayout" Target="/ppt/slideLayouts/slideLayout4.xml" Id="Ra2c81c5f0d314e40" /><Relationship Type="http://schemas.openxmlformats.org/officeDocument/2006/relationships/slideLayout" Target="/ppt/slideLayouts/slideLayout5.xml" Id="Rd75b94a9cd894139" /><Relationship Type="http://schemas.openxmlformats.org/officeDocument/2006/relationships/slideLayout" Target="/ppt/slideLayouts/slideLayout6.xml" Id="R060ee3d7957c44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3790aff0324bf4"/>
    <p:sldLayoutId xmlns:r="http://schemas.openxmlformats.org/officeDocument/2006/relationships" id="2147483650" r:id="R7aeca989415e4cad"/>
    <p:sldLayoutId xmlns:r="http://schemas.openxmlformats.org/officeDocument/2006/relationships" id="2147483651" r:id="Rbcd2700259ef4858"/>
    <p:sldLayoutId xmlns:r="http://schemas.openxmlformats.org/officeDocument/2006/relationships" id="2147483652" r:id="Ra2c81c5f0d314e40"/>
    <p:sldLayoutId xmlns:r="http://schemas.openxmlformats.org/officeDocument/2006/relationships" id="2147483653" r:id="Rd75b94a9cd894139"/>
    <p:sldLayoutId xmlns:r="http://schemas.openxmlformats.org/officeDocument/2006/relationships" id="2147483654" r:id="R060ee3d7957c44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f432394af94388" /><Relationship Type="http://schemas.openxmlformats.org/officeDocument/2006/relationships/notesSlide" Target="/ppt/notesSlides/notesSlide1.xml" Id="R04d64c7d737448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95dc607eac4425" /><Relationship Type="http://schemas.openxmlformats.org/officeDocument/2006/relationships/notesSlide" Target="/ppt/notesSlides/notesSlide2.xml" Id="R50ded46446364e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9191a714de4003" /><Relationship Type="http://schemas.openxmlformats.org/officeDocument/2006/relationships/notesSlide" Target="/ppt/notesSlides/notesSlide3.xml" Id="Rfb07375ff64645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263b64522f4b29" /><Relationship Type="http://schemas.openxmlformats.org/officeDocument/2006/relationships/notesSlide" Target="/ppt/notesSlides/notesSlide4.xml" Id="R300de71d86854f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265aa7b5f64e0f" /><Relationship Type="http://schemas.openxmlformats.org/officeDocument/2006/relationships/chart" Target="/ppt/slides/charts/chart1.xml" Id="Ra7996290a8be4f4b" /><Relationship Type="http://schemas.openxmlformats.org/officeDocument/2006/relationships/notesSlide" Target="/ppt/notesSlides/notesSlide5.xml" Id="R8673adc5565144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76aaee3a1c49e8" /><Relationship Type="http://schemas.openxmlformats.org/officeDocument/2006/relationships/notesSlide" Target="/ppt/notesSlides/notesSlide6.xml" Id="Rb4c4d72f77e14e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Off-market</c:v>
          </c:tx>
          <c:spPr>
            <a:ln xmlns:a="http://schemas.openxmlformats.org/drawingml/2006/main" w="38100">
              <a:solidFill>
                <a:srgbClr val="147D80"/>
              </a:solidFill>
              <a:prstDash val="solid"/>
            </a:ln>
          </c:spPr>
          <c:marker>
            <c:symbol val="circle"/>
            <c:size val="9"/>
            <c:spPr>
              <a:solidFill xmlns:a="http://schemas.openxmlformats.org/drawingml/2006/main">
                <a:srgbClr val="147D80"/>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13.1</c:v>
                </c:pt>
                <c:pt idx="1">
                  <c:v>7.95</c:v>
                </c:pt>
                <c:pt idx="2">
                  <c:v>7.97</c:v>
                </c:pt>
                <c:pt idx="3">
                  <c:v>9.35</c:v>
                </c:pt>
                <c:pt idx="4">
                  <c:v>9.98</c:v>
                </c:pt>
                <c:pt idx="5">
                  <c:v>9.94</c:v>
                </c:pt>
                <c:pt idx="6">
                  <c:v>9.67</c:v>
                </c:pt>
                <c:pt idx="7">
                  <c:v>11.52</c:v>
                </c:pt>
                <c:pt idx="8">
                  <c:v>13.77</c:v>
                </c:pt>
                <c:pt idx="9">
                  <c:v>16.55</c:v>
                </c:pt>
              </c:numCache>
            </c:numRef>
          </c:val>
        </c:ser>
        <c:ser>
          <c:idx val="1"/>
          <c:order val="1"/>
          <c:tx>
            <c:v>List-aware</c:v>
          </c:tx>
          <c:spPr>
            <a:ln xmlns:a="http://schemas.openxmlformats.org/drawingml/2006/main" w="38100">
              <a:solidFill>
                <a:srgbClr val="D35E3D"/>
              </a:solidFill>
              <a:prstDash val="solid"/>
            </a:ln>
          </c:spPr>
          <c:marker>
            <c:symbol val="circle"/>
            <c:size val="9"/>
            <c:spPr>
              <a:solidFill xmlns:a="http://schemas.openxmlformats.org/drawingml/2006/main">
                <a:srgbClr val="D35E3D"/>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4.17</c:v>
                </c:pt>
                <c:pt idx="1">
                  <c:v>3.67</c:v>
                </c:pt>
                <c:pt idx="2">
                  <c:v>3.67</c:v>
                </c:pt>
                <c:pt idx="3">
                  <c:v>3.94</c:v>
                </c:pt>
                <c:pt idx="4">
                  <c:v>4.02</c:v>
                </c:pt>
                <c:pt idx="5">
                  <c:v>4.61</c:v>
                </c:pt>
                <c:pt idx="6">
                  <c:v>4.64</c:v>
                </c:pt>
                <c:pt idx="7">
                  <c:v>4.68</c:v>
                </c:pt>
                <c:pt idx="8">
                  <c:v>5.52</c:v>
                </c:pt>
                <c:pt idx="9">
                  <c:v>5.79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Sold-price decile (1 = lowest price)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F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D7DF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Median absolute error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50112"/>
        <c:crossBetween val="between"/>
        <c:majorUnit val="3"/>
      </c:valAx>
      <c:spPr>
        <a:solidFill xmlns:a="http://schemas.openxmlformats.org/drawingml/2006/main">
          <a:srgbClr val="F7F6F1"/>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43443"/>
              </a:solidFill>
              <a:latin typeface="Arial"/>
              <a:ea typeface="Arial"/>
              <a:cs typeface="Arial"/>
            </a:defRPr>
          </a:pPr>
        </a:p>
      </c:txPr>
    </c:legend>
    <c:plotVisOnly val="1"/>
  </c:chart>
  <c:spPr>
    <a:solidFill xmlns:a="http://schemas.openxmlformats.org/drawingml/2006/main">
      <a:srgbClr val="F7F6F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cover-team">
            <a:extLst xmlns:a="http://schemas.openxmlformats.org/drawingml/2006/main">
              <a:ext uri="{FF2B5EF4-FFF2-40B4-BE49-F238E27FC236}">
                <a16:creationId xmlns:a16="http://schemas.microsoft.com/office/drawing/2014/main" id="{2A413021-718E-4702-9303-1460F9DF59A6}"/>
              </a:ext>
            </a:extLst>
          </p:cNvPr>
          <p:cNvSpPr>
            <a:spLocks xmlns:a="http://schemas.openxmlformats.org/drawingml/2006/main" noGrp="1"/>
          </p:cNvSpPr>
          <p:nvPr/>
        </p:nvSpPr>
        <p:spPr>
          <a:xfrm xmlns:a="http://schemas.openxmlformats.org/drawingml/2006/main">
            <a:off x="7239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TORONTO FOURCAST</a:t>
            </a:r>
          </a:p>
        </p:txBody>
      </p:sp>
      <p:sp>
        <p:nvSpPr>
          <p:cNvPr id="2" name="cover-title">
            <a:extLst xmlns:a="http://schemas.openxmlformats.org/drawingml/2006/main">
              <a:ext uri="{FF2B5EF4-FFF2-40B4-BE49-F238E27FC236}">
                <a16:creationId xmlns:a16="http://schemas.microsoft.com/office/drawing/2014/main" id="{45E2DAAF-784D-4564-97ED-655F1744BFF6}"/>
              </a:ext>
            </a:extLst>
          </p:cNvPr>
          <p:cNvSpPr>
            <a:spLocks xmlns:a="http://schemas.openxmlformats.org/drawingml/2006/main" noGrp="1"/>
          </p:cNvSpPr>
          <p:nvPr/>
        </p:nvSpPr>
        <p:spPr>
          <a:xfrm xmlns:a="http://schemas.openxmlformats.org/drawingml/2006/main">
            <a:off x="723900" y="12001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18324B"/>
                </a:solidFill>
                <a:latin typeface="Arial"/>
                <a:ea typeface="Arial"/>
                <a:cs typeface="Arial"/>
              </a:defRPr>
            </a:defPPr>
          </a:lstStyle>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Two home-price</a:t>
            </a:r>
          </a:p>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questions</a:t>
            </a:r>
          </a:p>
        </p:txBody>
      </p:sp>
      <p:sp>
        <p:nvSpPr>
          <p:cNvPr id="3" name="cover-subtitle">
            <a:extLst xmlns:a="http://schemas.openxmlformats.org/drawingml/2006/main">
              <a:ext uri="{FF2B5EF4-FFF2-40B4-BE49-F238E27FC236}">
                <a16:creationId xmlns:a16="http://schemas.microsoft.com/office/drawing/2014/main" id="{09DFC5B3-CFCD-429D-81F5-CA1C6B0C6C75}"/>
              </a:ext>
            </a:extLst>
          </p:cNvPr>
          <p:cNvSpPr>
            <a:spLocks xmlns:a="http://schemas.openxmlformats.org/drawingml/2006/main" noGrp="1"/>
          </p:cNvSpPr>
          <p:nvPr/>
        </p:nvSpPr>
        <p:spPr>
          <a:xfrm xmlns:a="http://schemas.openxmlformats.org/drawingml/2006/main">
            <a:off x="742950" y="29908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536575"/>
                </a:solidFill>
                <a:latin typeface="Arial"/>
                <a:ea typeface="Arial"/>
                <a:cs typeface="Arial"/>
              </a:defRPr>
            </a:defPPr>
          </a:lstStyle>
          <a:p xmlns:a="http://schemas.openxmlformats.org/drawingml/2006/main">
            <a:pPr algn="l">
              <a:defRPr sz="2025" b="0">
                <a:solidFill>
                  <a:srgbClr val="536575"/>
                </a:solidFill>
                <a:latin typeface="Arial"/>
                <a:ea typeface="Arial"/>
                <a:cs typeface="Arial"/>
              </a:defRPr>
            </a:pPr>
            <a:r>
              <a:rPr sz="2025" b="0">
                <a:solidFill>
                  <a:srgbClr val="536575"/>
                </a:solidFill>
                <a:latin typeface="Arial"/>
                <a:ea typeface="Arial"/>
                <a:cs typeface="Arial"/>
              </a:rPr>
              <a:t>Toronto home-price prediction challenge</a:t>
            </a:r>
          </a:p>
        </p:txBody>
      </p:sp>
      <p:sp>
        <p:nvSpPr>
          <p:cNvPr id="4" name="cover-divider">
            <a:extLst xmlns:a="http://schemas.openxmlformats.org/drawingml/2006/main">
              <a:ext uri="{FF2B5EF4-FFF2-40B4-BE49-F238E27FC236}">
                <a16:creationId xmlns:a16="http://schemas.microsoft.com/office/drawing/2014/main" id="{2DB47FAF-44D6-4BB7-9B1E-43F8CE3656C9}"/>
              </a:ext>
            </a:extLst>
          </p:cNvPr>
          <p:cNvSpPr>
            <a:spLocks xmlns:a="http://schemas.openxmlformats.org/drawingml/2006/main" noGrp="1"/>
          </p:cNvSpPr>
          <p:nvPr/>
        </p:nvSpPr>
        <p:spPr>
          <a:xfrm xmlns:a="http://schemas.openxmlformats.org/drawingml/2006/main">
            <a:off x="742950" y="3829050"/>
            <a:ext cx="10687050" cy="0"/>
          </a:xfrm>
          <a:prstGeom xmlns:a="http://schemas.openxmlformats.org/drawingml/2006/main" prst="line">
            <a:avLst/>
          </a:prstGeom>
          <a:noFill xmlns:a="http://schemas.openxmlformats.org/drawingml/2006/main"/>
          <a:ln xmlns:a="http://schemas.openxmlformats.org/drawingml/2006/main" w="19050">
            <a:solidFill>
              <a:srgbClr val="D7DFE4"/>
            </a:solidFill>
            <a:prstDash val="solid"/>
          </a:ln>
        </p:spPr>
      </p:sp>
      <p:sp>
        <p:nvSpPr>
          <p:cNvPr id="5" name="offmarket-label">
            <a:extLst xmlns:a="http://schemas.openxmlformats.org/drawingml/2006/main">
              <a:ext uri="{FF2B5EF4-FFF2-40B4-BE49-F238E27FC236}">
                <a16:creationId xmlns:a16="http://schemas.microsoft.com/office/drawing/2014/main" id="{A24692BA-DAD2-4623-B203-9C3BFB2CAD63}"/>
              </a:ext>
            </a:extLst>
          </p:cNvPr>
          <p:cNvSpPr>
            <a:spLocks xmlns:a="http://schemas.openxmlformats.org/drawingml/2006/main" noGrp="1"/>
          </p:cNvSpPr>
          <p:nvPr/>
        </p:nvSpPr>
        <p:spPr>
          <a:xfrm xmlns:a="http://schemas.openxmlformats.org/drawingml/2006/main">
            <a:off x="74295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7D80"/>
                </a:solidFill>
                <a:latin typeface="Arial"/>
                <a:ea typeface="Arial"/>
                <a:cs typeface="Arial"/>
              </a:defRPr>
            </a:defPPr>
          </a:lstStyle>
          <a:p xmlns:a="http://schemas.openxmlformats.org/drawingml/2006/main">
            <a:pPr algn="l">
              <a:defRPr sz="1725" b="1">
                <a:solidFill>
                  <a:srgbClr val="147D80"/>
                </a:solidFill>
                <a:latin typeface="Arial"/>
                <a:ea typeface="Arial"/>
                <a:cs typeface="Arial"/>
              </a:defRPr>
            </a:pPr>
            <a:r>
              <a:rPr sz="1725" b="1">
                <a:solidFill>
                  <a:srgbClr val="147D80"/>
                </a:solidFill>
                <a:latin typeface="Arial"/>
                <a:ea typeface="Arial"/>
                <a:cs typeface="Arial"/>
              </a:rPr>
              <a:t>OFF-MARKET</a:t>
            </a:r>
          </a:p>
        </p:txBody>
      </p:sp>
      <p:sp>
        <p:nvSpPr>
          <p:cNvPr id="6" name="offmarket-desc">
            <a:extLst xmlns:a="http://schemas.openxmlformats.org/drawingml/2006/main">
              <a:ext uri="{FF2B5EF4-FFF2-40B4-BE49-F238E27FC236}">
                <a16:creationId xmlns:a16="http://schemas.microsoft.com/office/drawing/2014/main" id="{DDB52B43-A8D6-428E-95B2-1765075A6BA8}"/>
              </a:ext>
            </a:extLst>
          </p:cNvPr>
          <p:cNvSpPr>
            <a:spLocks xmlns:a="http://schemas.openxmlformats.org/drawingml/2006/main" noGrp="1"/>
          </p:cNvSpPr>
          <p:nvPr/>
        </p:nvSpPr>
        <p:spPr>
          <a:xfrm xmlns:a="http://schemas.openxmlformats.org/drawingml/2006/main">
            <a:off x="74295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before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No asking price available</a:t>
            </a:r>
          </a:p>
        </p:txBody>
      </p:sp>
      <p:sp>
        <p:nvSpPr>
          <p:cNvPr id="7" name="listaware-label">
            <a:extLst xmlns:a="http://schemas.openxmlformats.org/drawingml/2006/main">
              <a:ext uri="{FF2B5EF4-FFF2-40B4-BE49-F238E27FC236}">
                <a16:creationId xmlns:a16="http://schemas.microsoft.com/office/drawing/2014/main" id="{2E89B56B-DF3E-4265-94E5-FEF918E80191}"/>
              </a:ext>
            </a:extLst>
          </p:cNvPr>
          <p:cNvSpPr>
            <a:spLocks xmlns:a="http://schemas.openxmlformats.org/drawingml/2006/main" noGrp="1"/>
          </p:cNvSpPr>
          <p:nvPr/>
        </p:nvSpPr>
        <p:spPr>
          <a:xfrm xmlns:a="http://schemas.openxmlformats.org/drawingml/2006/main">
            <a:off x="643890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D35E3D"/>
                </a:solidFill>
                <a:latin typeface="Arial"/>
                <a:ea typeface="Arial"/>
                <a:cs typeface="Arial"/>
              </a:defRPr>
            </a:defPPr>
          </a:lstStyle>
          <a:p xmlns:a="http://schemas.openxmlformats.org/drawingml/2006/main">
            <a:pPr algn="l">
              <a:defRPr sz="1725" b="1">
                <a:solidFill>
                  <a:srgbClr val="D35E3D"/>
                </a:solidFill>
                <a:latin typeface="Arial"/>
                <a:ea typeface="Arial"/>
                <a:cs typeface="Arial"/>
              </a:defRPr>
            </a:pPr>
            <a:r>
              <a:rPr sz="1725" b="1">
                <a:solidFill>
                  <a:srgbClr val="D35E3D"/>
                </a:solidFill>
                <a:latin typeface="Arial"/>
                <a:ea typeface="Arial"/>
                <a:cs typeface="Arial"/>
              </a:rPr>
              <a:t>LIST-AWARE</a:t>
            </a:r>
          </a:p>
        </p:txBody>
      </p:sp>
      <p:sp>
        <p:nvSpPr>
          <p:cNvPr id="8" name="listaware-desc">
            <a:extLst xmlns:a="http://schemas.openxmlformats.org/drawingml/2006/main">
              <a:ext uri="{FF2B5EF4-FFF2-40B4-BE49-F238E27FC236}">
                <a16:creationId xmlns:a16="http://schemas.microsoft.com/office/drawing/2014/main" id="{66AC82B3-8888-4031-9DE6-DA26FA93100C}"/>
              </a:ext>
            </a:extLst>
          </p:cNvPr>
          <p:cNvSpPr>
            <a:spLocks xmlns:a="http://schemas.openxmlformats.org/drawingml/2006/main" noGrp="1"/>
          </p:cNvSpPr>
          <p:nvPr/>
        </p:nvSpPr>
        <p:spPr>
          <a:xfrm xmlns:a="http://schemas.openxmlformats.org/drawingml/2006/main">
            <a:off x="643890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after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Asking price is an input</a:t>
            </a:r>
          </a:p>
        </p:txBody>
      </p:sp>
      <p:sp>
        <p:nvSpPr>
          <p:cNvPr id="9" name="cover-foot">
            <a:extLst xmlns:a="http://schemas.openxmlformats.org/drawingml/2006/main">
              <a:ext uri="{FF2B5EF4-FFF2-40B4-BE49-F238E27FC236}">
                <a16:creationId xmlns:a16="http://schemas.microsoft.com/office/drawing/2014/main" id="{1EF65833-817A-4A08-8E83-4478C8EC0CD5}"/>
              </a:ext>
            </a:extLst>
          </p:cNvPr>
          <p:cNvSpPr>
            <a:spLocks xmlns:a="http://schemas.openxmlformats.org/drawingml/2006/main" noGrp="1"/>
          </p:cNvSpPr>
          <p:nvPr/>
        </p:nvSpPr>
        <p:spPr>
          <a:xfrm xmlns:a="http://schemas.openxmlformats.org/drawingml/2006/main">
            <a:off x="742950" y="57912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5"/>
                </a:solidFill>
                <a:latin typeface="Arial"/>
                <a:ea typeface="Arial"/>
                <a:cs typeface="Arial"/>
              </a:defRPr>
            </a:defPPr>
          </a:lstStyle>
          <a:p xmlns:a="http://schemas.openxmlformats.org/drawingml/2006/main">
            <a:pPr algn="l">
              <a:defRPr sz="1425" b="0">
                <a:solidFill>
                  <a:srgbClr val="536575"/>
                </a:solidFill>
                <a:latin typeface="Arial"/>
                <a:ea typeface="Arial"/>
                <a:cs typeface="Arial"/>
              </a:defRPr>
            </a:pPr>
            <a:r>
              <a:rPr sz="1425" b="0">
                <a:solidFill>
                  <a:srgbClr val="536575"/>
                </a:solidFill>
                <a:latin typeface="Arial"/>
                <a:ea typeface="Arial"/>
                <a:cs typeface="Arial"/>
              </a:rPr>
              <a:t>The off-market track is harder and counts double in the accuracy score.</a:t>
            </a:r>
          </a:p>
        </p:txBody>
      </p:sp>
    </p:spTree>
    <p:extLst>
      <p:ext uri="{BB962C8B-B14F-4D97-AF65-F5344CB8AC3E}">
        <p14:creationId xmlns:p14="http://schemas.microsoft.com/office/powerpoint/2010/main" val="176615981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86CB0A8C-7845-4357-A6D0-AA19A2BA201A}"/>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test moves forward in time</a:t>
            </a:r>
          </a:p>
        </p:txBody>
      </p:sp>
      <p:sp>
        <p:nvSpPr>
          <p:cNvPr id="2" name="rule-2">
            <a:extLst xmlns:a="http://schemas.openxmlformats.org/drawingml/2006/main">
              <a:ext uri="{FF2B5EF4-FFF2-40B4-BE49-F238E27FC236}">
                <a16:creationId xmlns:a16="http://schemas.microsoft.com/office/drawing/2014/main" id="{CA74AF8D-F7A1-471D-9FF3-DBD8C9F3C3EA}"/>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2">
            <a:extLst xmlns:a="http://schemas.openxmlformats.org/drawingml/2006/main">
              <a:ext uri="{FF2B5EF4-FFF2-40B4-BE49-F238E27FC236}">
                <a16:creationId xmlns:a16="http://schemas.microsoft.com/office/drawing/2014/main" id="{93DFF728-431F-4EBD-8EC8-F1CCB9F65793}"/>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2">
            <a:extLst xmlns:a="http://schemas.openxmlformats.org/drawingml/2006/main">
              <a:ext uri="{FF2B5EF4-FFF2-40B4-BE49-F238E27FC236}">
                <a16:creationId xmlns:a16="http://schemas.microsoft.com/office/drawing/2014/main" id="{8B4A2619-3113-4F2B-8C90-323614A4AF32}"/>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2 / 6</a:t>
            </a:r>
          </a:p>
        </p:txBody>
      </p:sp>
      <p:sp>
        <p:nvSpPr>
          <p:cNvPr id="5" name="timeline-intro">
            <a:extLst xmlns:a="http://schemas.openxmlformats.org/drawingml/2006/main">
              <a:ext uri="{FF2B5EF4-FFF2-40B4-BE49-F238E27FC236}">
                <a16:creationId xmlns:a16="http://schemas.microsoft.com/office/drawing/2014/main" id="{FF84F598-F5E8-4CE9-84E1-E3D9071197F9}"/>
              </a:ext>
            </a:extLst>
          </p:cNvPr>
          <p:cNvSpPr>
            <a:spLocks xmlns:a="http://schemas.openxmlformats.org/drawingml/2006/main" noGrp="1"/>
          </p:cNvSpPr>
          <p:nvPr/>
        </p:nvSpPr>
        <p:spPr>
          <a:xfrm xmlns:a="http://schemas.openxmlformats.org/drawingml/2006/main">
            <a:off x="762000" y="169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243443"/>
                </a:solidFill>
                <a:latin typeface="Arial"/>
                <a:ea typeface="Arial"/>
                <a:cs typeface="Arial"/>
              </a:defRPr>
            </a:defPPr>
          </a:lstStyle>
          <a:p xmlns:a="http://schemas.openxmlformats.org/drawingml/2006/main">
            <a:pPr algn="l">
              <a:defRPr sz="2025" b="0">
                <a:solidFill>
                  <a:srgbClr val="243443"/>
                </a:solidFill>
                <a:latin typeface="Arial"/>
                <a:ea typeface="Arial"/>
                <a:cs typeface="Arial"/>
              </a:defRPr>
            </a:pPr>
            <a:r>
              <a:rPr sz="2025" b="0">
                <a:solidFill>
                  <a:srgbClr val="243443"/>
                </a:solidFill>
                <a:latin typeface="Arial"/>
                <a:ea typeface="Arial"/>
                <a:cs typeface="Arial"/>
              </a:rPr>
              <a:t>Train on earlier sales. Predict the next month.</a:t>
            </a:r>
          </a:p>
        </p:txBody>
      </p:sp>
      <p:sp>
        <p:nvSpPr>
          <p:cNvPr id="6" name="history-label">
            <a:extLst xmlns:a="http://schemas.openxmlformats.org/drawingml/2006/main">
              <a:ext uri="{FF2B5EF4-FFF2-40B4-BE49-F238E27FC236}">
                <a16:creationId xmlns:a16="http://schemas.microsoft.com/office/drawing/2014/main" id="{85B3FA30-AC7D-4670-BFBC-4E4080D2C37C}"/>
              </a:ext>
            </a:extLst>
          </p:cNvPr>
          <p:cNvSpPr>
            <a:spLocks xmlns:a="http://schemas.openxmlformats.org/drawingml/2006/main" noGrp="1"/>
          </p:cNvSpPr>
          <p:nvPr/>
        </p:nvSpPr>
        <p:spPr>
          <a:xfrm xmlns:a="http://schemas.openxmlformats.org/drawingml/2006/main">
            <a:off x="762000" y="2495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TRAINING HISTORY</a:t>
            </a:r>
          </a:p>
        </p:txBody>
      </p:sp>
      <p:sp>
        <p:nvSpPr>
          <p:cNvPr id="7" name="history-dates">
            <a:extLst xmlns:a="http://schemas.openxmlformats.org/drawingml/2006/main">
              <a:ext uri="{FF2B5EF4-FFF2-40B4-BE49-F238E27FC236}">
                <a16:creationId xmlns:a16="http://schemas.microsoft.com/office/drawing/2014/main" id="{4A053B3F-3BEA-4674-B9AE-9560AD42ADE8}"/>
              </a:ext>
            </a:extLst>
          </p:cNvPr>
          <p:cNvSpPr>
            <a:spLocks xmlns:a="http://schemas.openxmlformats.org/drawingml/2006/main" noGrp="1"/>
          </p:cNvSpPr>
          <p:nvPr/>
        </p:nvSpPr>
        <p:spPr>
          <a:xfrm xmlns:a="http://schemas.openxmlformats.org/drawingml/2006/main">
            <a:off x="7620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Training expands from Jan 2021</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using only earlier sales</a:t>
            </a:r>
          </a:p>
        </p:txBody>
      </p:sp>
      <p:sp>
        <p:nvSpPr>
          <p:cNvPr id="8" name="validation-label">
            <a:extLst xmlns:a="http://schemas.openxmlformats.org/drawingml/2006/main">
              <a:ext uri="{FF2B5EF4-FFF2-40B4-BE49-F238E27FC236}">
                <a16:creationId xmlns:a16="http://schemas.microsoft.com/office/drawing/2014/main" id="{81B78518-C54C-49A4-AD2F-F78DEDAA3E97}"/>
              </a:ext>
            </a:extLst>
          </p:cNvPr>
          <p:cNvSpPr>
            <a:spLocks xmlns:a="http://schemas.openxmlformats.org/drawingml/2006/main" noGrp="1"/>
          </p:cNvSpPr>
          <p:nvPr/>
        </p:nvSpPr>
        <p:spPr>
          <a:xfrm xmlns:a="http://schemas.openxmlformats.org/drawingml/2006/main">
            <a:off x="45339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SIX WALK-FORWARD MONTHS</a:t>
            </a:r>
          </a:p>
        </p:txBody>
      </p:sp>
      <p:sp>
        <p:nvSpPr>
          <p:cNvPr id="9" name="validation-dates">
            <a:extLst xmlns:a="http://schemas.openxmlformats.org/drawingml/2006/main">
              <a:ext uri="{FF2B5EF4-FFF2-40B4-BE49-F238E27FC236}">
                <a16:creationId xmlns:a16="http://schemas.microsoft.com/office/drawing/2014/main" id="{B685AD59-5B8E-4B39-A822-BD38B6097A83}"/>
              </a:ext>
            </a:extLst>
          </p:cNvPr>
          <p:cNvSpPr>
            <a:spLocks xmlns:a="http://schemas.openxmlformats.org/drawingml/2006/main" noGrp="1"/>
          </p:cNvSpPr>
          <p:nvPr/>
        </p:nvSpPr>
        <p:spPr>
          <a:xfrm xmlns:a="http://schemas.openxmlformats.org/drawingml/2006/main">
            <a:off x="45339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Dec 2025 → May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10,069 homes per track</a:t>
            </a:r>
          </a:p>
        </p:txBody>
      </p:sp>
      <p:sp>
        <p:nvSpPr>
          <p:cNvPr id="10" name="test-label">
            <a:extLst xmlns:a="http://schemas.openxmlformats.org/drawingml/2006/main">
              <a:ext uri="{FF2B5EF4-FFF2-40B4-BE49-F238E27FC236}">
                <a16:creationId xmlns:a16="http://schemas.microsoft.com/office/drawing/2014/main" id="{AB112A9D-A64E-4203-B694-53C03D934310}"/>
              </a:ext>
            </a:extLst>
          </p:cNvPr>
          <p:cNvSpPr>
            <a:spLocks xmlns:a="http://schemas.openxmlformats.org/drawingml/2006/main" noGrp="1"/>
          </p:cNvSpPr>
          <p:nvPr/>
        </p:nvSpPr>
        <p:spPr>
          <a:xfrm xmlns:a="http://schemas.openxmlformats.org/drawingml/2006/main">
            <a:off x="8877300" y="2495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24B"/>
                </a:solidFill>
                <a:latin typeface="Arial"/>
                <a:ea typeface="Arial"/>
                <a:cs typeface="Arial"/>
              </a:defRPr>
            </a:defPPr>
          </a:lstStyle>
          <a:p xmlns:a="http://schemas.openxmlformats.org/drawingml/2006/main">
            <a:pPr algn="l">
              <a:defRPr sz="1200" b="1">
                <a:solidFill>
                  <a:srgbClr val="18324B"/>
                </a:solidFill>
                <a:latin typeface="Arial"/>
                <a:ea typeface="Arial"/>
                <a:cs typeface="Arial"/>
              </a:defRPr>
            </a:pPr>
            <a:r>
              <a:rPr sz="1200" b="1">
                <a:solidFill>
                  <a:srgbClr val="18324B"/>
                </a:solidFill>
                <a:latin typeface="Arial"/>
                <a:ea typeface="Arial"/>
                <a:cs typeface="Arial"/>
              </a:rPr>
              <a:t>HIDDEN TEST</a:t>
            </a:r>
          </a:p>
        </p:txBody>
      </p:sp>
      <p:sp>
        <p:nvSpPr>
          <p:cNvPr id="11" name="test-dates">
            <a:extLst xmlns:a="http://schemas.openxmlformats.org/drawingml/2006/main">
              <a:ext uri="{FF2B5EF4-FFF2-40B4-BE49-F238E27FC236}">
                <a16:creationId xmlns:a16="http://schemas.microsoft.com/office/drawing/2014/main" id="{27DAC97E-A370-4A32-95BC-2B93D71AE18F}"/>
              </a:ext>
            </a:extLst>
          </p:cNvPr>
          <p:cNvSpPr>
            <a:spLocks xmlns:a="http://schemas.openxmlformats.org/drawingml/2006/main" noGrp="1"/>
          </p:cNvSpPr>
          <p:nvPr/>
        </p:nvSpPr>
        <p:spPr>
          <a:xfrm xmlns:a="http://schemas.openxmlformats.org/drawingml/2006/main">
            <a:off x="8877300" y="2857500"/>
            <a:ext cx="304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Jun – Sep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Sale prices unavailable</a:t>
            </a:r>
          </a:p>
        </p:txBody>
      </p:sp>
      <p:sp>
        <p:nvSpPr>
          <p:cNvPr id="12" name="timeline-history">
            <a:extLst xmlns:a="http://schemas.openxmlformats.org/drawingml/2006/main">
              <a:ext uri="{FF2B5EF4-FFF2-40B4-BE49-F238E27FC236}">
                <a16:creationId xmlns:a16="http://schemas.microsoft.com/office/drawing/2014/main" id="{10A885C7-DA27-403B-90B9-EEC043E76BB1}"/>
              </a:ext>
            </a:extLst>
          </p:cNvPr>
          <p:cNvSpPr>
            <a:spLocks xmlns:a="http://schemas.openxmlformats.org/drawingml/2006/main" noGrp="1"/>
          </p:cNvSpPr>
          <p:nvPr/>
        </p:nvSpPr>
        <p:spPr>
          <a:xfrm xmlns:a="http://schemas.openxmlformats.org/drawingml/2006/main">
            <a:off x="838200" y="4495800"/>
            <a:ext cx="3562350" cy="0"/>
          </a:xfrm>
          <a:prstGeom xmlns:a="http://schemas.openxmlformats.org/drawingml/2006/main" prst="line">
            <a:avLst/>
          </a:prstGeom>
          <a:noFill xmlns:a="http://schemas.openxmlformats.org/drawingml/2006/main"/>
          <a:ln xmlns:a="http://schemas.openxmlformats.org/drawingml/2006/main" w="76200">
            <a:solidFill>
              <a:srgbClr val="147D80"/>
            </a:solidFill>
            <a:prstDash val="solid"/>
          </a:ln>
        </p:spPr>
      </p:sp>
      <p:sp>
        <p:nvSpPr>
          <p:cNvPr id="13" name="timeline-validation">
            <a:extLst xmlns:a="http://schemas.openxmlformats.org/drawingml/2006/main">
              <a:ext uri="{FF2B5EF4-FFF2-40B4-BE49-F238E27FC236}">
                <a16:creationId xmlns:a16="http://schemas.microsoft.com/office/drawing/2014/main" id="{4C2A14F9-F3DC-421F-8074-6B6EF5EEA49E}"/>
              </a:ext>
            </a:extLst>
          </p:cNvPr>
          <p:cNvSpPr>
            <a:spLocks xmlns:a="http://schemas.openxmlformats.org/drawingml/2006/main" noGrp="1"/>
          </p:cNvSpPr>
          <p:nvPr/>
        </p:nvSpPr>
        <p:spPr>
          <a:xfrm xmlns:a="http://schemas.openxmlformats.org/drawingml/2006/main">
            <a:off x="4400550" y="4495800"/>
            <a:ext cx="3848100" cy="0"/>
          </a:xfrm>
          <a:prstGeom xmlns:a="http://schemas.openxmlformats.org/drawingml/2006/main" prst="line">
            <a:avLst/>
          </a:prstGeom>
          <a:noFill xmlns:a="http://schemas.openxmlformats.org/drawingml/2006/main"/>
          <a:ln xmlns:a="http://schemas.openxmlformats.org/drawingml/2006/main" w="76200">
            <a:solidFill>
              <a:srgbClr val="D35E3D"/>
            </a:solidFill>
            <a:prstDash val="solid"/>
          </a:ln>
        </p:spPr>
      </p:sp>
      <p:sp>
        <p:nvSpPr>
          <p:cNvPr id="14" name="timeline-test">
            <a:extLst xmlns:a="http://schemas.openxmlformats.org/drawingml/2006/main">
              <a:ext uri="{FF2B5EF4-FFF2-40B4-BE49-F238E27FC236}">
                <a16:creationId xmlns:a16="http://schemas.microsoft.com/office/drawing/2014/main" id="{3115A5D1-CB53-420F-AEDE-ED63B07D5684}"/>
              </a:ext>
            </a:extLst>
          </p:cNvPr>
          <p:cNvSpPr>
            <a:spLocks xmlns:a="http://schemas.openxmlformats.org/drawingml/2006/main" noGrp="1"/>
          </p:cNvSpPr>
          <p:nvPr/>
        </p:nvSpPr>
        <p:spPr>
          <a:xfrm xmlns:a="http://schemas.openxmlformats.org/drawingml/2006/main">
            <a:off x="8248650" y="4495800"/>
            <a:ext cx="3086100" cy="0"/>
          </a:xfrm>
          <a:prstGeom xmlns:a="http://schemas.openxmlformats.org/drawingml/2006/main" prst="line">
            <a:avLst/>
          </a:prstGeom>
          <a:noFill xmlns:a="http://schemas.openxmlformats.org/drawingml/2006/main"/>
          <a:ln xmlns:a="http://schemas.openxmlformats.org/drawingml/2006/main" w="76200">
            <a:solidFill>
              <a:srgbClr val="18324B"/>
            </a:solidFill>
            <a:prstDash val="solid"/>
          </a:ln>
        </p:spPr>
      </p:sp>
      <p:sp>
        <p:nvSpPr>
          <p:cNvPr id="15" name="validation-month-1">
            <a:extLst xmlns:a="http://schemas.openxmlformats.org/drawingml/2006/main">
              <a:ext uri="{FF2B5EF4-FFF2-40B4-BE49-F238E27FC236}">
                <a16:creationId xmlns:a16="http://schemas.microsoft.com/office/drawing/2014/main" id="{BD9353C8-41FC-4497-BF82-D76BF1A49252}"/>
              </a:ext>
            </a:extLst>
          </p:cNvPr>
          <p:cNvSpPr>
            <a:spLocks xmlns:a="http://schemas.openxmlformats.org/drawingml/2006/main" noGrp="1"/>
          </p:cNvSpPr>
          <p:nvPr/>
        </p:nvSpPr>
        <p:spPr>
          <a:xfrm xmlns:a="http://schemas.openxmlformats.org/drawingml/2006/main">
            <a:off x="45243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6" name="validation-month-2">
            <a:extLst xmlns:a="http://schemas.openxmlformats.org/drawingml/2006/main">
              <a:ext uri="{FF2B5EF4-FFF2-40B4-BE49-F238E27FC236}">
                <a16:creationId xmlns:a16="http://schemas.microsoft.com/office/drawing/2014/main" id="{C793D022-12D3-462F-9663-A4371A142087}"/>
              </a:ext>
            </a:extLst>
          </p:cNvPr>
          <p:cNvSpPr>
            <a:spLocks xmlns:a="http://schemas.openxmlformats.org/drawingml/2006/main" noGrp="1"/>
          </p:cNvSpPr>
          <p:nvPr/>
        </p:nvSpPr>
        <p:spPr>
          <a:xfrm xmlns:a="http://schemas.openxmlformats.org/drawingml/2006/main">
            <a:off x="51720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7" name="validation-month-3">
            <a:extLst xmlns:a="http://schemas.openxmlformats.org/drawingml/2006/main">
              <a:ext uri="{FF2B5EF4-FFF2-40B4-BE49-F238E27FC236}">
                <a16:creationId xmlns:a16="http://schemas.microsoft.com/office/drawing/2014/main" id="{EF52FA67-5102-43ED-B28B-386346B29469}"/>
              </a:ext>
            </a:extLst>
          </p:cNvPr>
          <p:cNvSpPr>
            <a:spLocks xmlns:a="http://schemas.openxmlformats.org/drawingml/2006/main" noGrp="1"/>
          </p:cNvSpPr>
          <p:nvPr/>
        </p:nvSpPr>
        <p:spPr>
          <a:xfrm xmlns:a="http://schemas.openxmlformats.org/drawingml/2006/main">
            <a:off x="58197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8" name="validation-month-4">
            <a:extLst xmlns:a="http://schemas.openxmlformats.org/drawingml/2006/main">
              <a:ext uri="{FF2B5EF4-FFF2-40B4-BE49-F238E27FC236}">
                <a16:creationId xmlns:a16="http://schemas.microsoft.com/office/drawing/2014/main" id="{408E10D9-516F-44DD-A12C-1B61B221B061}"/>
              </a:ext>
            </a:extLst>
          </p:cNvPr>
          <p:cNvSpPr>
            <a:spLocks xmlns:a="http://schemas.openxmlformats.org/drawingml/2006/main" noGrp="1"/>
          </p:cNvSpPr>
          <p:nvPr/>
        </p:nvSpPr>
        <p:spPr>
          <a:xfrm xmlns:a="http://schemas.openxmlformats.org/drawingml/2006/main">
            <a:off x="64674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9" name="validation-month-5">
            <a:extLst xmlns:a="http://schemas.openxmlformats.org/drawingml/2006/main">
              <a:ext uri="{FF2B5EF4-FFF2-40B4-BE49-F238E27FC236}">
                <a16:creationId xmlns:a16="http://schemas.microsoft.com/office/drawing/2014/main" id="{185C6A7D-C0D5-4DFB-949A-C2517342ED60}"/>
              </a:ext>
            </a:extLst>
          </p:cNvPr>
          <p:cNvSpPr>
            <a:spLocks xmlns:a="http://schemas.openxmlformats.org/drawingml/2006/main" noGrp="1"/>
          </p:cNvSpPr>
          <p:nvPr/>
        </p:nvSpPr>
        <p:spPr>
          <a:xfrm xmlns:a="http://schemas.openxmlformats.org/drawingml/2006/main">
            <a:off x="71151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0" name="validation-month-6">
            <a:extLst xmlns:a="http://schemas.openxmlformats.org/drawingml/2006/main">
              <a:ext uri="{FF2B5EF4-FFF2-40B4-BE49-F238E27FC236}">
                <a16:creationId xmlns:a16="http://schemas.microsoft.com/office/drawing/2014/main" id="{E361A34F-5556-4AB8-83FF-801B77C30B36}"/>
              </a:ext>
            </a:extLst>
          </p:cNvPr>
          <p:cNvSpPr>
            <a:spLocks xmlns:a="http://schemas.openxmlformats.org/drawingml/2006/main" noGrp="1"/>
          </p:cNvSpPr>
          <p:nvPr/>
        </p:nvSpPr>
        <p:spPr>
          <a:xfrm xmlns:a="http://schemas.openxmlformats.org/drawingml/2006/main">
            <a:off x="77628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1" name="timeline-training-foot">
            <a:extLst xmlns:a="http://schemas.openxmlformats.org/drawingml/2006/main">
              <a:ext uri="{FF2B5EF4-FFF2-40B4-BE49-F238E27FC236}">
                <a16:creationId xmlns:a16="http://schemas.microsoft.com/office/drawing/2014/main" id="{F10FFEB7-CD35-40AD-A3D8-43294A23473A}"/>
              </a:ext>
            </a:extLst>
          </p:cNvPr>
          <p:cNvSpPr>
            <a:spLocks xmlns:a="http://schemas.openxmlformats.org/drawingml/2006/main" noGrp="1"/>
          </p:cNvSpPr>
          <p:nvPr/>
        </p:nvSpPr>
        <p:spPr>
          <a:xfrm xmlns:a="http://schemas.openxmlformats.org/drawingml/2006/main">
            <a:off x="762000" y="50673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Each fold uses only sales available before that month.</a:t>
            </a:r>
          </a:p>
        </p:txBody>
      </p:sp>
      <p:sp>
        <p:nvSpPr>
          <p:cNvPr id="22" name="timeline-caveat">
            <a:extLst xmlns:a="http://schemas.openxmlformats.org/drawingml/2006/main">
              <a:ext uri="{FF2B5EF4-FFF2-40B4-BE49-F238E27FC236}">
                <a16:creationId xmlns:a16="http://schemas.microsoft.com/office/drawing/2014/main" id="{C62ACB4D-1F1C-4DF7-9E3C-81DA697D5C39}"/>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150,000 synthetic sales through May 2026. Communities and coordinates do not map to real Toronto addresses.</a:t>
            </a:r>
          </a:p>
        </p:txBody>
      </p:sp>
    </p:spTree>
    <p:extLst>
      <p:ext uri="{BB962C8B-B14F-4D97-AF65-F5344CB8AC3E}">
        <p14:creationId xmlns:p14="http://schemas.microsoft.com/office/powerpoint/2010/main" val="128010990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CDC378B1-D285-4C9B-B6E3-A0C11F8C5CB3}"/>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two models keep inputs separate</a:t>
            </a:r>
          </a:p>
        </p:txBody>
      </p:sp>
      <p:sp>
        <p:nvSpPr>
          <p:cNvPr id="2" name="rule-3">
            <a:extLst xmlns:a="http://schemas.openxmlformats.org/drawingml/2006/main">
              <a:ext uri="{FF2B5EF4-FFF2-40B4-BE49-F238E27FC236}">
                <a16:creationId xmlns:a16="http://schemas.microsoft.com/office/drawing/2014/main" id="{379EECF7-4C9B-4AA9-9DA6-317FAE0DEEE7}"/>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3">
            <a:extLst xmlns:a="http://schemas.openxmlformats.org/drawingml/2006/main">
              <a:ext uri="{FF2B5EF4-FFF2-40B4-BE49-F238E27FC236}">
                <a16:creationId xmlns:a16="http://schemas.microsoft.com/office/drawing/2014/main" id="{B82F6B71-75FE-4FA6-857B-1168BCAFB907}"/>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3">
            <a:extLst xmlns:a="http://schemas.openxmlformats.org/drawingml/2006/main">
              <a:ext uri="{FF2B5EF4-FFF2-40B4-BE49-F238E27FC236}">
                <a16:creationId xmlns:a16="http://schemas.microsoft.com/office/drawing/2014/main" id="{33B07655-463F-4B0C-9C57-AE3D274BD549}"/>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3 / 6</a:t>
            </a:r>
          </a:p>
        </p:txBody>
      </p:sp>
      <p:sp>
        <p:nvSpPr>
          <p:cNvPr id="5" name="shared-label">
            <a:extLst xmlns:a="http://schemas.openxmlformats.org/drawingml/2006/main">
              <a:ext uri="{FF2B5EF4-FFF2-40B4-BE49-F238E27FC236}">
                <a16:creationId xmlns:a16="http://schemas.microsoft.com/office/drawing/2014/main" id="{F15A3202-0AD0-4BE9-A83D-9CC18768AC58}"/>
              </a:ext>
            </a:extLst>
          </p:cNvPr>
          <p:cNvSpPr>
            <a:spLocks xmlns:a="http://schemas.openxmlformats.org/drawingml/2006/main" noGrp="1"/>
          </p:cNvSpPr>
          <p:nvPr/>
        </p:nvSpPr>
        <p:spPr>
          <a:xfrm xmlns:a="http://schemas.openxmlformats.org/drawingml/2006/main">
            <a:off x="781050" y="1752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BOTH TRACKS</a:t>
            </a:r>
          </a:p>
        </p:txBody>
      </p:sp>
      <p:sp>
        <p:nvSpPr>
          <p:cNvPr id="6" name="shared-features">
            <a:extLst xmlns:a="http://schemas.openxmlformats.org/drawingml/2006/main">
              <a:ext uri="{FF2B5EF4-FFF2-40B4-BE49-F238E27FC236}">
                <a16:creationId xmlns:a16="http://schemas.microsoft.com/office/drawing/2014/main" id="{6D00BF98-6E71-4A36-A4AB-6AC5C656F3DE}"/>
              </a:ext>
            </a:extLst>
          </p:cNvPr>
          <p:cNvSpPr>
            <a:spLocks xmlns:a="http://schemas.openxmlformats.org/drawingml/2006/main" noGrp="1"/>
          </p:cNvSpPr>
          <p:nvPr/>
        </p:nvSpPr>
        <p:spPr>
          <a:xfrm xmlns:a="http://schemas.openxmlformats.org/drawingml/2006/main">
            <a:off x="781050" y="22098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43443"/>
                </a:solidFill>
                <a:latin typeface="Arial"/>
                <a:ea typeface="Arial"/>
                <a:cs typeface="Arial"/>
              </a:defRPr>
            </a:defPPr>
          </a:lstStyle>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Home area, rooms, parking</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Property type, house style</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Municipality, community</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Coordinates and listing month</a:t>
            </a:r>
          </a:p>
        </p:txBody>
      </p:sp>
      <p:sp>
        <p:nvSpPr>
          <p:cNvPr id="7" name="model-method">
            <a:extLst xmlns:a="http://schemas.openxmlformats.org/drawingml/2006/main">
              <a:ext uri="{FF2B5EF4-FFF2-40B4-BE49-F238E27FC236}">
                <a16:creationId xmlns:a16="http://schemas.microsoft.com/office/drawing/2014/main" id="{A5177AEA-42F7-4444-8E4C-7C387A952C95}"/>
              </a:ext>
            </a:extLst>
          </p:cNvPr>
          <p:cNvSpPr>
            <a:spLocks xmlns:a="http://schemas.openxmlformats.org/drawingml/2006/main" noGrp="1"/>
          </p:cNvSpPr>
          <p:nvPr/>
        </p:nvSpPr>
        <p:spPr>
          <a:xfrm xmlns:a="http://schemas.openxmlformats.org/drawingml/2006/main">
            <a:off x="781050" y="4476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36575"/>
                </a:solidFill>
                <a:latin typeface="Arial"/>
                <a:ea typeface="Arial"/>
                <a:cs typeface="Arial"/>
              </a:defRPr>
            </a:defPPr>
          </a:lstStyle>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Histogram gradient boosting</a:t>
            </a:r>
          </a:p>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trained on log sale price</a:t>
            </a:r>
          </a:p>
        </p:txBody>
      </p:sp>
      <p:sp>
        <p:nvSpPr>
          <p:cNvPr id="8" name="feature-divider">
            <a:extLst xmlns:a="http://schemas.openxmlformats.org/drawingml/2006/main">
              <a:ext uri="{FF2B5EF4-FFF2-40B4-BE49-F238E27FC236}">
                <a16:creationId xmlns:a16="http://schemas.microsoft.com/office/drawing/2014/main" id="{5D7F4C8C-E44C-48DD-B3EE-0CD6ADA90E2D}"/>
              </a:ext>
            </a:extLst>
          </p:cNvPr>
          <p:cNvSpPr>
            <a:spLocks xmlns:a="http://schemas.openxmlformats.org/drawingml/2006/main" noGrp="1"/>
          </p:cNvSpPr>
          <p:nvPr/>
        </p:nvSpPr>
        <p:spPr>
          <a:xfrm xmlns:a="http://schemas.openxmlformats.org/drawingml/2006/main">
            <a:off x="6096000" y="1752600"/>
            <a:ext cx="9525" cy="0"/>
          </a:xfrm>
          <a:prstGeom xmlns:a="http://schemas.openxmlformats.org/drawingml/2006/main" prst="line">
            <a:avLst/>
          </a:prstGeom>
          <a:noFill xmlns:a="http://schemas.openxmlformats.org/drawingml/2006/main"/>
          <a:ln xmlns:a="http://schemas.openxmlformats.org/drawingml/2006/main" w="9525">
            <a:solidFill>
              <a:srgbClr val="D7DFE4"/>
            </a:solidFill>
            <a:prstDash val="solid"/>
          </a:ln>
        </p:spPr>
      </p:sp>
      <p:sp>
        <p:nvSpPr>
          <p:cNvPr id="9" name="offmarket-only-label">
            <a:extLst xmlns:a="http://schemas.openxmlformats.org/drawingml/2006/main">
              <a:ext uri="{FF2B5EF4-FFF2-40B4-BE49-F238E27FC236}">
                <a16:creationId xmlns:a16="http://schemas.microsoft.com/office/drawing/2014/main" id="{FA87432C-E5C4-421C-BCA3-6EDA9631EA07}"/>
              </a:ext>
            </a:extLst>
          </p:cNvPr>
          <p:cNvSpPr>
            <a:spLocks xmlns:a="http://schemas.openxmlformats.org/drawingml/2006/main" noGrp="1"/>
          </p:cNvSpPr>
          <p:nvPr/>
        </p:nvSpPr>
        <p:spPr>
          <a:xfrm xmlns:a="http://schemas.openxmlformats.org/drawingml/2006/main">
            <a:off x="6705600" y="19431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80"/>
                </a:solidFill>
                <a:latin typeface="Arial"/>
                <a:ea typeface="Arial"/>
                <a:cs typeface="Arial"/>
              </a:defRPr>
            </a:defPPr>
          </a:lstStyle>
          <a:p xmlns:a="http://schemas.openxmlformats.org/drawingml/2006/main">
            <a:pPr algn="l">
              <a:defRPr sz="1425" b="1">
                <a:solidFill>
                  <a:srgbClr val="147D80"/>
                </a:solidFill>
                <a:latin typeface="Arial"/>
                <a:ea typeface="Arial"/>
                <a:cs typeface="Arial"/>
              </a:defRPr>
            </a:pPr>
            <a:r>
              <a:rPr sz="1425" b="1">
                <a:solidFill>
                  <a:srgbClr val="147D80"/>
                </a:solidFill>
                <a:latin typeface="Arial"/>
                <a:ea typeface="Arial"/>
                <a:cs typeface="Arial"/>
              </a:rPr>
              <a:t>OFF-MARKET</a:t>
            </a:r>
          </a:p>
        </p:txBody>
      </p:sp>
      <p:sp>
        <p:nvSpPr>
          <p:cNvPr id="10" name="offmarket-only-copy">
            <a:extLst xmlns:a="http://schemas.openxmlformats.org/drawingml/2006/main">
              <a:ext uri="{FF2B5EF4-FFF2-40B4-BE49-F238E27FC236}">
                <a16:creationId xmlns:a16="http://schemas.microsoft.com/office/drawing/2014/main" id="{38C538A2-B9D0-488B-80CD-FB665CB7FB2A}"/>
              </a:ext>
            </a:extLst>
          </p:cNvPr>
          <p:cNvSpPr>
            <a:spLocks xmlns:a="http://schemas.openxmlformats.org/drawingml/2006/main" noGrp="1"/>
          </p:cNvSpPr>
          <p:nvPr/>
        </p:nvSpPr>
        <p:spPr>
          <a:xfrm xmlns:a="http://schemas.openxmlformats.org/drawingml/2006/main">
            <a:off x="6705600" y="2343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No list-price input</a:t>
            </a:r>
          </a:p>
        </p:txBody>
      </p:sp>
      <p:sp>
        <p:nvSpPr>
          <p:cNvPr id="11" name="listaware-only-label">
            <a:extLst xmlns:a="http://schemas.openxmlformats.org/drawingml/2006/main">
              <a:ext uri="{FF2B5EF4-FFF2-40B4-BE49-F238E27FC236}">
                <a16:creationId xmlns:a16="http://schemas.microsoft.com/office/drawing/2014/main" id="{FFA77D49-56B9-46F0-90C9-BBF6A371C95C}"/>
              </a:ext>
            </a:extLst>
          </p:cNvPr>
          <p:cNvSpPr>
            <a:spLocks xmlns:a="http://schemas.openxmlformats.org/drawingml/2006/main" noGrp="1"/>
          </p:cNvSpPr>
          <p:nvPr/>
        </p:nvSpPr>
        <p:spPr>
          <a:xfrm xmlns:a="http://schemas.openxmlformats.org/drawingml/2006/main">
            <a:off x="6705600" y="3448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35E3D"/>
                </a:solidFill>
                <a:latin typeface="Arial"/>
                <a:ea typeface="Arial"/>
                <a:cs typeface="Arial"/>
              </a:defRPr>
            </a:defPPr>
          </a:lstStyle>
          <a:p xmlns:a="http://schemas.openxmlformats.org/drawingml/2006/main">
            <a:pPr algn="l">
              <a:defRPr sz="1425" b="1">
                <a:solidFill>
                  <a:srgbClr val="D35E3D"/>
                </a:solidFill>
                <a:latin typeface="Arial"/>
                <a:ea typeface="Arial"/>
                <a:cs typeface="Arial"/>
              </a:defRPr>
            </a:pPr>
            <a:r>
              <a:rPr sz="1425" b="1">
                <a:solidFill>
                  <a:srgbClr val="D35E3D"/>
                </a:solidFill>
                <a:latin typeface="Arial"/>
                <a:ea typeface="Arial"/>
                <a:cs typeface="Arial"/>
              </a:rPr>
              <a:t>LIST-AWARE</a:t>
            </a:r>
          </a:p>
        </p:txBody>
      </p:sp>
      <p:sp>
        <p:nvSpPr>
          <p:cNvPr id="12" name="listaware-only-copy">
            <a:extLst xmlns:a="http://schemas.openxmlformats.org/drawingml/2006/main">
              <a:ext uri="{FF2B5EF4-FFF2-40B4-BE49-F238E27FC236}">
                <a16:creationId xmlns:a16="http://schemas.microsoft.com/office/drawing/2014/main" id="{534C9F29-CAAE-4322-A7E1-55E324961925}"/>
              </a:ext>
            </a:extLst>
          </p:cNvPr>
          <p:cNvSpPr>
            <a:spLocks xmlns:a="http://schemas.openxmlformats.org/drawingml/2006/main" noGrp="1"/>
          </p:cNvSpPr>
          <p:nvPr/>
        </p:nvSpPr>
        <p:spPr>
          <a:xfrm xmlns:a="http://schemas.openxmlformats.org/drawingml/2006/main">
            <a:off x="6705600" y="38481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Adds the asking price</a:t>
            </a:r>
          </a:p>
        </p:txBody>
      </p:sp>
      <p:sp>
        <p:nvSpPr>
          <p:cNvPr id="13" name="category-finding-rule">
            <a:extLst xmlns:a="http://schemas.openxmlformats.org/drawingml/2006/main">
              <a:ext uri="{FF2B5EF4-FFF2-40B4-BE49-F238E27FC236}">
                <a16:creationId xmlns:a16="http://schemas.microsoft.com/office/drawing/2014/main" id="{37AE91B3-94D7-4EB6-AB53-7E466B13A518}"/>
              </a:ext>
            </a:extLst>
          </p:cNvPr>
          <p:cNvSpPr>
            <a:spLocks xmlns:a="http://schemas.openxmlformats.org/drawingml/2006/main" noGrp="1"/>
          </p:cNvSpPr>
          <p:nvPr/>
        </p:nvSpPr>
        <p:spPr>
          <a:xfrm xmlns:a="http://schemas.openxmlformats.org/drawingml/2006/main">
            <a:off x="6705600" y="4819650"/>
            <a:ext cx="4381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14" name="category-finding">
            <a:extLst xmlns:a="http://schemas.openxmlformats.org/drawingml/2006/main">
              <a:ext uri="{FF2B5EF4-FFF2-40B4-BE49-F238E27FC236}">
                <a16:creationId xmlns:a16="http://schemas.microsoft.com/office/drawing/2014/main" id="{2ED06EB7-C19F-4D16-9729-B3CBC49BB385}"/>
              </a:ext>
            </a:extLst>
          </p:cNvPr>
          <p:cNvSpPr>
            <a:spLocks xmlns:a="http://schemas.openxmlformats.org/drawingml/2006/main" noGrp="1"/>
          </p:cNvSpPr>
          <p:nvPr/>
        </p:nvSpPr>
        <p:spPr>
          <a:xfrm xmlns:a="http://schemas.openxmlformats.org/drawingml/2006/main">
            <a:off x="6705600" y="501015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24B"/>
                </a:solidFill>
                <a:latin typeface="Arial"/>
                <a:ea typeface="Arial"/>
                <a:cs typeface="Arial"/>
              </a:defRPr>
            </a:defPPr>
          </a:lstStyle>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Vs. numeric + property type: adding house style, municipality and community lowered MdAPE by 3.80 pp off-market and 0.19 pp list-aware.</a:t>
            </a:r>
          </a:p>
        </p:txBody>
      </p:sp>
    </p:spTree>
    <p:extLst>
      <p:ext uri="{BB962C8B-B14F-4D97-AF65-F5344CB8AC3E}">
        <p14:creationId xmlns:p14="http://schemas.microsoft.com/office/powerpoint/2010/main" val="786031895"/>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A8F448C7-B2CB-4C0E-BD87-2BB582471DEE}"/>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Walk-forward error fell on both tracks</a:t>
            </a:r>
          </a:p>
        </p:txBody>
      </p:sp>
      <p:sp>
        <p:nvSpPr>
          <p:cNvPr id="2" name="rule-4">
            <a:extLst xmlns:a="http://schemas.openxmlformats.org/drawingml/2006/main">
              <a:ext uri="{FF2B5EF4-FFF2-40B4-BE49-F238E27FC236}">
                <a16:creationId xmlns:a16="http://schemas.microsoft.com/office/drawing/2014/main" id="{4F106EDB-737B-43B8-B851-B095976E5C6B}"/>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4">
            <a:extLst xmlns:a="http://schemas.openxmlformats.org/drawingml/2006/main">
              <a:ext uri="{FF2B5EF4-FFF2-40B4-BE49-F238E27FC236}">
                <a16:creationId xmlns:a16="http://schemas.microsoft.com/office/drawing/2014/main" id="{F24C7FB4-57A9-4B1C-9ADA-34D24B64D391}"/>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4">
            <a:extLst xmlns:a="http://schemas.openxmlformats.org/drawingml/2006/main">
              <a:ext uri="{FF2B5EF4-FFF2-40B4-BE49-F238E27FC236}">
                <a16:creationId xmlns:a16="http://schemas.microsoft.com/office/drawing/2014/main" id="{B853E504-2FE1-4AED-ABAC-2422B661612D}"/>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4 / 6</a:t>
            </a:r>
          </a:p>
        </p:txBody>
      </p:sp>
      <p:sp>
        <p:nvSpPr>
          <p:cNvPr id="5" name="results-subhead">
            <a:extLst xmlns:a="http://schemas.openxmlformats.org/drawingml/2006/main">
              <a:ext uri="{FF2B5EF4-FFF2-40B4-BE49-F238E27FC236}">
                <a16:creationId xmlns:a16="http://schemas.microsoft.com/office/drawing/2014/main" id="{B1D83338-6237-492E-8FB6-99B0DC66C85C}"/>
              </a:ext>
            </a:extLst>
          </p:cNvPr>
          <p:cNvSpPr>
            <a:spLocks xmlns:a="http://schemas.openxmlformats.org/drawingml/2006/main" noGrp="1"/>
          </p:cNvSpPr>
          <p:nvPr/>
        </p:nvSpPr>
        <p:spPr>
          <a:xfrm xmlns:a="http://schemas.openxmlformats.org/drawingml/2006/main">
            <a:off x="762000" y="16573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36575"/>
                </a:solidFill>
                <a:latin typeface="Arial"/>
                <a:ea typeface="Arial"/>
                <a:cs typeface="Arial"/>
              </a:defRPr>
            </a:defPPr>
          </a:lstStyle>
          <a:p xmlns:a="http://schemas.openxmlformats.org/drawingml/2006/main">
            <a:pPr algn="l">
              <a:defRPr sz="1575" b="0">
                <a:solidFill>
                  <a:srgbClr val="536575"/>
                </a:solidFill>
                <a:latin typeface="Arial"/>
                <a:ea typeface="Arial"/>
                <a:cs typeface="Arial"/>
              </a:defRPr>
            </a:pPr>
            <a:r>
              <a:rPr sz="1575" b="0">
                <a:solidFill>
                  <a:srgbClr val="536575"/>
                </a:solidFill>
                <a:latin typeface="Arial"/>
                <a:ea typeface="Arial"/>
                <a:cs typeface="Arial"/>
              </a:rPr>
              <a:t>MdAPE ranks the models. MAPE is the mean-error tie-breaker.</a:t>
            </a:r>
          </a:p>
        </p:txBody>
      </p:sp>
      <p:graphicFrame>
        <p:nvGraphicFramePr>
          <p:cNvPr id="6" name="">
            <a:extLst xmlns:a="http://schemas.openxmlformats.org/drawingml/2006/main">
              <a:ext uri="{FF2B5EF4-FFF2-40B4-BE49-F238E27FC236}">
                <a16:creationId xmlns:a16="http://schemas.microsoft.com/office/drawing/2014/main" id="{4CB38D23-614A-4452-8A7E-3632DDE067FC}"/>
              </a:ext>
            </a:extLst>
          </p:cNvPr>
          <p:cNvGraphicFramePr/>
          <p:nvPr/>
        </p:nvGraphicFramePr>
        <p:xfrm>
          <a:off xmlns:a="http://schemas.openxmlformats.org/drawingml/2006/main" x="762000" y="2266950"/>
          <a:ext xmlns:a="http://schemas.openxmlformats.org/drawingml/2006/main" cx="10668000" cy="2095500"/>
        </p:xfrm>
        <a:graphic xmlns:a="http://schemas.openxmlformats.org/drawingml/2006/main">
          <a:graphicData uri="http://schemas.openxmlformats.org/drawingml/2006/table">
            <a:tbl>
              <a:tblPr firstRow="1" bandRow="1"/>
              <a:tblGrid>
                <a:gridCol w="2667000"/>
                <a:gridCol w="2667000"/>
                <a:gridCol w="2667000"/>
                <a:gridCol w="2667000"/>
              </a:tblGrid>
              <a:tr h="698500">
                <a:tc>
                  <a:txBody>
                    <a:bodyPr lIns="95250" tIns="95250" rIns="95250" bIns="95250"/>
                    <a:lstStyle/>
                    <a:p>
                      <a:r>
                        <a:rPr sz="1500" b="1">
                          <a:solidFill>
                            <a:srgbClr val="FFFFFF"/>
                          </a:solidFill>
                          <a:latin typeface="Arial"/>
                          <a:ea typeface="Arial"/>
                          <a:cs typeface="Arial"/>
                        </a:rPr>
                        <a:t>Track</a:t>
                      </a:r>
                    </a:p>
                  </a:txBody>
                  <a:tcPr marL="91440" marR="91440" marT="45720" marB="45720" anchor="ctr">
                    <a:lnL w="9525">
                      <a:solidFill>
                        <a:srgbClr val="D7DFE4"/>
                      </a:solidFill>
                      <a:prstDash val="solid"/>
                    </a:lnL>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Starter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r>
              <a:tr h="698500">
                <a:tc>
                  <a:txBody>
                    <a:bodyPr lIns="95250" tIns="95250" rIns="95250" bIns="95250"/>
                    <a:lstStyle/>
                    <a:p>
                      <a:r>
                        <a:rPr sz="1575" b="1">
                          <a:solidFill>
                            <a:srgbClr val="243443"/>
                          </a:solidFill>
                          <a:latin typeface="Arial"/>
                          <a:ea typeface="Arial"/>
                          <a:cs typeface="Arial"/>
                        </a:rPr>
                        <a:t>Off-market</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20.8%</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10.60% (10.38–10.85)</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13.40% (13.17–13.65)</a:t>
                      </a:r>
                    </a:p>
                  </a:txBody>
                  <a:tcPr marL="91440" marR="91440" marT="45720" marB="45720" anchor="ctr">
                    <a:lnR w="9525">
                      <a:solidFill>
                        <a:srgbClr val="D7DFE4"/>
                      </a:solidFill>
                      <a:prstDash val="solid"/>
                    </a:lnR>
                    <a:lnB w="9525">
                      <a:solidFill>
                        <a:srgbClr val="D7DFE4"/>
                      </a:solidFill>
                      <a:prstDash val="solid"/>
                    </a:lnB>
                    <a:solidFill>
                      <a:srgbClr val="FFFFFF"/>
                    </a:solidFill>
                  </a:tcPr>
                </a:tc>
              </a:tr>
              <a:tr h="698500">
                <a:tc>
                  <a:txBody>
                    <a:bodyPr lIns="95250" tIns="95250" rIns="95250" bIns="95250"/>
                    <a:lstStyle/>
                    <a:p>
                      <a:r>
                        <a:rPr sz="1575" b="1">
                          <a:solidFill>
                            <a:srgbClr val="243443"/>
                          </a:solidFill>
                          <a:latin typeface="Arial"/>
                          <a:ea typeface="Arial"/>
                          <a:cs typeface="Arial"/>
                        </a:rPr>
                        <a:t>List-aware</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7.3%</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4.36% (4.26–4.46)</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5.57% (5.47–5.66)</a:t>
                      </a:r>
                    </a:p>
                  </a:txBody>
                  <a:tcPr marL="91440" marR="91440" marT="45720" marB="45720" anchor="ctr">
                    <a:lnR w="9525">
                      <a:solidFill>
                        <a:srgbClr val="D7DFE4"/>
                      </a:solidFill>
                      <a:prstDash val="solid"/>
                    </a:lnR>
                    <a:lnB w="9525">
                      <a:solidFill>
                        <a:srgbClr val="D7DFE4"/>
                      </a:solidFill>
                      <a:prstDash val="solid"/>
                    </a:lnB>
                    <a:solidFill>
                      <a:srgbClr val="E6F1F0"/>
                    </a:solidFill>
                  </a:tcPr>
                </a:tc>
              </a:tr>
            </a:tbl>
          </a:graphicData>
        </a:graphic>
      </p:graphicFrame>
      <p:sp>
        <p:nvSpPr>
          <p:cNvPr id="7" name="results-ci-note">
            <a:extLst xmlns:a="http://schemas.openxmlformats.org/drawingml/2006/main">
              <a:ext uri="{FF2B5EF4-FFF2-40B4-BE49-F238E27FC236}">
                <a16:creationId xmlns:a16="http://schemas.microsoft.com/office/drawing/2014/main" id="{E5132778-5922-4574-AEEF-B96FADD9AD9D}"/>
              </a:ext>
            </a:extLst>
          </p:cNvPr>
          <p:cNvSpPr>
            <a:spLocks xmlns:a="http://schemas.openxmlformats.org/drawingml/2006/main" noGrp="1"/>
          </p:cNvSpPr>
          <p:nvPr/>
        </p:nvSpPr>
        <p:spPr>
          <a:xfrm xmlns:a="http://schemas.openxmlformats.org/drawingml/2006/main">
            <a:off x="781050" y="4495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Parentheses show 95% home-bootstrap intervals. 10,069 validation homes per track.</a:t>
            </a:r>
          </a:p>
        </p:txBody>
      </p:sp>
      <p:sp>
        <p:nvSpPr>
          <p:cNvPr id="8" name="results-warning">
            <a:extLst xmlns:a="http://schemas.openxmlformats.org/drawingml/2006/main">
              <a:ext uri="{FF2B5EF4-FFF2-40B4-BE49-F238E27FC236}">
                <a16:creationId xmlns:a16="http://schemas.microsoft.com/office/drawing/2014/main" id="{F06EE54E-F247-49AE-8BBC-94352F43F273}"/>
              </a:ext>
            </a:extLst>
          </p:cNvPr>
          <p:cNvSpPr>
            <a:spLocks xmlns:a="http://schemas.openxmlformats.org/drawingml/2006/main" noGrp="1"/>
          </p:cNvSpPr>
          <p:nvPr/>
        </p:nvSpPr>
        <p:spPr>
          <a:xfrm xmlns:a="http://schemas.openxmlformats.org/drawingml/2006/main">
            <a:off x="781050" y="5200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D35E3D"/>
                </a:solidFill>
                <a:latin typeface="Arial"/>
                <a:ea typeface="Arial"/>
                <a:cs typeface="Arial"/>
              </a:defRPr>
            </a:defPPr>
          </a:lstStyle>
          <a:p xmlns:a="http://schemas.openxmlformats.org/drawingml/2006/main">
            <a:pPr algn="l">
              <a:defRPr sz="1875" b="1">
                <a:solidFill>
                  <a:srgbClr val="D35E3D"/>
                </a:solidFill>
                <a:latin typeface="Arial"/>
                <a:ea typeface="Arial"/>
                <a:cs typeface="Arial"/>
              </a:defRPr>
            </a:pPr>
            <a:r>
              <a:rPr sz="1875" b="1">
                <a:solidFill>
                  <a:srgbClr val="D35E3D"/>
                </a:solidFill>
                <a:latin typeface="Arial"/>
                <a:ea typeface="Arial"/>
                <a:cs typeface="Arial"/>
              </a:rPr>
              <a:t>Validation results only. Hidden-test performance is not yet known.</a:t>
            </a:r>
          </a:p>
        </p:txBody>
      </p:sp>
    </p:spTree>
    <p:extLst>
      <p:ext uri="{BB962C8B-B14F-4D97-AF65-F5344CB8AC3E}">
        <p14:creationId xmlns:p14="http://schemas.microsoft.com/office/powerpoint/2010/main" val="23115260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9E0D6352-16F3-41FA-95A6-C213B45216EB}"/>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Error rises at the price extremes</a:t>
            </a:r>
          </a:p>
        </p:txBody>
      </p:sp>
      <p:sp>
        <p:nvSpPr>
          <p:cNvPr id="2" name="rule-5">
            <a:extLst xmlns:a="http://schemas.openxmlformats.org/drawingml/2006/main">
              <a:ext uri="{FF2B5EF4-FFF2-40B4-BE49-F238E27FC236}">
                <a16:creationId xmlns:a16="http://schemas.microsoft.com/office/drawing/2014/main" id="{C2C68B87-1F76-4EA1-AA50-E46DC5EF347A}"/>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5">
            <a:extLst xmlns:a="http://schemas.openxmlformats.org/drawingml/2006/main">
              <a:ext uri="{FF2B5EF4-FFF2-40B4-BE49-F238E27FC236}">
                <a16:creationId xmlns:a16="http://schemas.microsoft.com/office/drawing/2014/main" id="{A033DE3E-040A-41BB-8EB4-E50D15AEEBF6}"/>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5">
            <a:extLst xmlns:a="http://schemas.openxmlformats.org/drawingml/2006/main">
              <a:ext uri="{FF2B5EF4-FFF2-40B4-BE49-F238E27FC236}">
                <a16:creationId xmlns:a16="http://schemas.microsoft.com/office/drawing/2014/main" id="{A48CA0D5-08CD-4740-8A09-AA1318DC0257}"/>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5 / 6</a:t>
            </a:r>
          </a:p>
        </p:txBody>
      </p:sp>
      <p:sp>
        <p:nvSpPr>
          <p:cNvPr id="5" name="error-chart-subhead">
            <a:extLst xmlns:a="http://schemas.openxmlformats.org/drawingml/2006/main">
              <a:ext uri="{FF2B5EF4-FFF2-40B4-BE49-F238E27FC236}">
                <a16:creationId xmlns:a16="http://schemas.microsoft.com/office/drawing/2014/main" id="{D017F661-E052-43E2-BD7C-88E50EBE2DF4}"/>
              </a:ext>
            </a:extLst>
          </p:cNvPr>
          <p:cNvSpPr>
            <a:spLocks xmlns:a="http://schemas.openxmlformats.org/drawingml/2006/main" noGrp="1"/>
          </p:cNvSpPr>
          <p:nvPr/>
        </p:nvSpPr>
        <p:spPr>
          <a:xfrm xmlns:a="http://schemas.openxmlformats.org/drawingml/2006/main">
            <a:off x="762000" y="16573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Median absolute percentage error by shared sold-price decile</a:t>
            </a:r>
          </a:p>
        </p:txBody>
      </p:sp>
      <p:graphicFrame>
        <p:nvGraphicFramePr>
          <p:cNvPr id="6" name="Chart">
            <a:extLst xmlns:a="http://schemas.openxmlformats.org/drawingml/2006/main">
              <a:ext uri="{FF2B5EF4-FFF2-40B4-BE49-F238E27FC236}">
                <a16:creationId xmlns:a16="http://schemas.microsoft.com/office/drawing/2014/main" id="{EB51A7D8-88CC-44B9-811E-0326A61A97D8}"/>
              </a:ext>
            </a:extLst>
          </p:cNvPr>
          <p:cNvGraphicFramePr/>
          <p:nvPr/>
        </p:nvGraphicFramePr>
        <p:xfrm>
          <a:off xmlns:a="http://schemas.openxmlformats.org/drawingml/2006/main" x="685800" y="2076450"/>
          <a:ext xmlns:a="http://schemas.openxmlformats.org/drawingml/2006/main" cx="7953375" cy="3771900"/>
        </p:xfrm>
        <a:graphic xmlns:a="http://schemas.openxmlformats.org/drawingml/2006/main">
          <a:graphicData uri="http://schemas.openxmlformats.org/drawingml/2006/chart">
            <c:chart xmlns:r="http://schemas.openxmlformats.org/officeDocument/2006/relationships" xmlns:c="http://schemas.openxmlformats.org/drawingml/2006/chart" r:id="Ra7996290a8be4f4b"/>
          </a:graphicData>
        </a:graphic>
      </p:graphicFrame>
      <p:sp>
        <p:nvSpPr>
          <p:cNvPr id="7" name="off-market-tail">
            <a:extLst xmlns:a="http://schemas.openxmlformats.org/drawingml/2006/main">
              <a:ext uri="{FF2B5EF4-FFF2-40B4-BE49-F238E27FC236}">
                <a16:creationId xmlns:a16="http://schemas.microsoft.com/office/drawing/2014/main" id="{E9D75C84-36B3-49AC-AB87-BFDAA78549FB}"/>
              </a:ext>
            </a:extLst>
          </p:cNvPr>
          <p:cNvSpPr>
            <a:spLocks xmlns:a="http://schemas.openxmlformats.org/drawingml/2006/main" noGrp="1"/>
          </p:cNvSpPr>
          <p:nvPr/>
        </p:nvSpPr>
        <p:spPr>
          <a:xfrm xmlns:a="http://schemas.openxmlformats.org/drawingml/2006/main">
            <a:off x="8858250" y="2781300"/>
            <a:ext cx="2571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80"/>
                </a:solidFill>
                <a:latin typeface="Arial"/>
                <a:ea typeface="Arial"/>
                <a:cs typeface="Arial"/>
              </a:defRPr>
            </a:defPPr>
          </a:lstStyle>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OFF-MARKET</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13.10% lowest decile</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16.55% highest decile</a:t>
            </a:r>
          </a:p>
        </p:txBody>
      </p:sp>
      <p:sp>
        <p:nvSpPr>
          <p:cNvPr id="8" name="tail-divider">
            <a:extLst xmlns:a="http://schemas.openxmlformats.org/drawingml/2006/main">
              <a:ext uri="{FF2B5EF4-FFF2-40B4-BE49-F238E27FC236}">
                <a16:creationId xmlns:a16="http://schemas.microsoft.com/office/drawing/2014/main" id="{15CEE48D-082F-41ED-A987-2A430E3945BF}"/>
              </a:ext>
            </a:extLst>
          </p:cNvPr>
          <p:cNvSpPr>
            <a:spLocks xmlns:a="http://schemas.openxmlformats.org/drawingml/2006/main" noGrp="1"/>
          </p:cNvSpPr>
          <p:nvPr/>
        </p:nvSpPr>
        <p:spPr>
          <a:xfrm xmlns:a="http://schemas.openxmlformats.org/drawingml/2006/main">
            <a:off x="8858250" y="4305300"/>
            <a:ext cx="2476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list-aware-tail">
            <a:extLst xmlns:a="http://schemas.openxmlformats.org/drawingml/2006/main">
              <a:ext uri="{FF2B5EF4-FFF2-40B4-BE49-F238E27FC236}">
                <a16:creationId xmlns:a16="http://schemas.microsoft.com/office/drawing/2014/main" id="{6CDB0C28-52B0-460D-BDA9-ABBBF14FFBDB}"/>
              </a:ext>
            </a:extLst>
          </p:cNvPr>
          <p:cNvSpPr>
            <a:spLocks xmlns:a="http://schemas.openxmlformats.org/drawingml/2006/main" noGrp="1"/>
          </p:cNvSpPr>
          <p:nvPr/>
        </p:nvSpPr>
        <p:spPr>
          <a:xfrm xmlns:a="http://schemas.openxmlformats.org/drawingml/2006/main">
            <a:off x="8858250" y="45529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D35E3D"/>
                </a:solidFill>
                <a:latin typeface="Arial"/>
                <a:ea typeface="Arial"/>
                <a:cs typeface="Arial"/>
              </a:defRPr>
            </a:defPPr>
          </a:lstStyle>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LIST-AWARE</a:t>
            </a:r>
          </a:p>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5.79% highest decile</a:t>
            </a:r>
          </a:p>
        </p:txBody>
      </p:sp>
      <p:sp>
        <p:nvSpPr>
          <p:cNvPr id="10" name="tail-sample-note">
            <a:extLst xmlns:a="http://schemas.openxmlformats.org/drawingml/2006/main">
              <a:ext uri="{FF2B5EF4-FFF2-40B4-BE49-F238E27FC236}">
                <a16:creationId xmlns:a16="http://schemas.microsoft.com/office/drawing/2014/main" id="{E0FB70BE-8E76-4F54-9722-8EDE9D4AFC4B}"/>
              </a:ext>
            </a:extLst>
          </p:cNvPr>
          <p:cNvSpPr>
            <a:spLocks xmlns:a="http://schemas.openxmlformats.org/drawingml/2006/main" noGrp="1"/>
          </p:cNvSpPr>
          <p:nvPr/>
        </p:nvSpPr>
        <p:spPr>
          <a:xfrm xmlns:a="http://schemas.openxmlformats.org/drawingml/2006/main">
            <a:off x="781050" y="59436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5"/>
                </a:solidFill>
                <a:latin typeface="Arial"/>
                <a:ea typeface="Arial"/>
                <a:cs typeface="Arial"/>
              </a:defRPr>
            </a:defPPr>
          </a:lstStyle>
          <a:p xmlns:a="http://schemas.openxmlformats.org/drawingml/2006/main">
            <a:pPr algn="l">
              <a:defRPr sz="1275" b="0">
                <a:solidFill>
                  <a:srgbClr val="536575"/>
                </a:solidFill>
                <a:latin typeface="Arial"/>
                <a:ea typeface="Arial"/>
                <a:cs typeface="Arial"/>
              </a:defRPr>
            </a:pPr>
            <a:r>
              <a:rPr sz="1275" b="0">
                <a:solidFill>
                  <a:srgbClr val="536575"/>
                </a:solidFill>
                <a:latin typeface="Arial"/>
                <a:ea typeface="Arial"/>
                <a:cs typeface="Arial"/>
              </a:rPr>
              <a:t>Co-op Apt: 14.33% MdAPE, based on 48 off-market homes.</a:t>
            </a:r>
          </a:p>
        </p:txBody>
      </p:sp>
    </p:spTree>
    <p:extLst>
      <p:ext uri="{BB962C8B-B14F-4D97-AF65-F5344CB8AC3E}">
        <p14:creationId xmlns:p14="http://schemas.microsoft.com/office/powerpoint/2010/main" val="2055549106"/>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2FA16169-C022-4A85-9772-E4ACEEEDABD8}"/>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Use the result within its limits</a:t>
            </a:r>
          </a:p>
        </p:txBody>
      </p:sp>
      <p:sp>
        <p:nvSpPr>
          <p:cNvPr id="2" name="rule-6">
            <a:extLst xmlns:a="http://schemas.openxmlformats.org/drawingml/2006/main">
              <a:ext uri="{FF2B5EF4-FFF2-40B4-BE49-F238E27FC236}">
                <a16:creationId xmlns:a16="http://schemas.microsoft.com/office/drawing/2014/main" id="{ECCAF643-3A39-48C0-8446-710DBB27045B}"/>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6">
            <a:extLst xmlns:a="http://schemas.openxmlformats.org/drawingml/2006/main">
              <a:ext uri="{FF2B5EF4-FFF2-40B4-BE49-F238E27FC236}">
                <a16:creationId xmlns:a16="http://schemas.microsoft.com/office/drawing/2014/main" id="{3BAB5B1A-C4B9-44AA-935F-606F7C7F84F8}"/>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6">
            <a:extLst xmlns:a="http://schemas.openxmlformats.org/drawingml/2006/main">
              <a:ext uri="{FF2B5EF4-FFF2-40B4-BE49-F238E27FC236}">
                <a16:creationId xmlns:a16="http://schemas.microsoft.com/office/drawing/2014/main" id="{E4E2F2E3-889E-499F-A6D4-16C6FFA5AE60}"/>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6 / 6</a:t>
            </a:r>
          </a:p>
        </p:txBody>
      </p:sp>
      <p:sp>
        <p:nvSpPr>
          <p:cNvPr id="5" name="takeaway-main">
            <a:extLst xmlns:a="http://schemas.openxmlformats.org/drawingml/2006/main">
              <a:ext uri="{FF2B5EF4-FFF2-40B4-BE49-F238E27FC236}">
                <a16:creationId xmlns:a16="http://schemas.microsoft.com/office/drawing/2014/main" id="{B2E0FC3B-AB23-49B5-9EAE-24E545B78F25}"/>
              </a:ext>
            </a:extLst>
          </p:cNvPr>
          <p:cNvSpPr>
            <a:spLocks xmlns:a="http://schemas.openxmlformats.org/drawingml/2006/main" noGrp="1"/>
          </p:cNvSpPr>
          <p:nvPr/>
        </p:nvSpPr>
        <p:spPr>
          <a:xfrm xmlns:a="http://schemas.openxmlformats.org/drawingml/2006/main">
            <a:off x="762000" y="1771650"/>
            <a:ext cx="619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8324B"/>
                </a:solidFill>
                <a:latin typeface="Arial"/>
                <a:ea typeface="Arial"/>
                <a:cs typeface="Arial"/>
              </a:defRPr>
            </a:defPPr>
          </a:lstStyle>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A stronger first estimate</a:t>
            </a:r>
          </a:p>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for this synthetic benchmark</a:t>
            </a:r>
          </a:p>
        </p:txBody>
      </p:sp>
      <p:sp>
        <p:nvSpPr>
          <p:cNvPr id="6" name="limits-label">
            <a:extLst xmlns:a="http://schemas.openxmlformats.org/drawingml/2006/main">
              <a:ext uri="{FF2B5EF4-FFF2-40B4-BE49-F238E27FC236}">
                <a16:creationId xmlns:a16="http://schemas.microsoft.com/office/drawing/2014/main" id="{C9F44EE6-5D46-43F6-B3B8-8246F232C664}"/>
              </a:ext>
            </a:extLst>
          </p:cNvPr>
          <p:cNvSpPr>
            <a:spLocks xmlns:a="http://schemas.openxmlformats.org/drawingml/2006/main" noGrp="1"/>
          </p:cNvSpPr>
          <p:nvPr/>
        </p:nvSpPr>
        <p:spPr>
          <a:xfrm xmlns:a="http://schemas.openxmlformats.org/drawingml/2006/main">
            <a:off x="76200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LIMITS</a:t>
            </a:r>
          </a:p>
        </p:txBody>
      </p:sp>
      <p:sp>
        <p:nvSpPr>
          <p:cNvPr id="7" name="limits-copy">
            <a:extLst xmlns:a="http://schemas.openxmlformats.org/drawingml/2006/main">
              <a:ext uri="{FF2B5EF4-FFF2-40B4-BE49-F238E27FC236}">
                <a16:creationId xmlns:a16="http://schemas.microsoft.com/office/drawing/2014/main" id="{C0505C71-69DB-42BF-B97B-D006FB1BB000}"/>
              </a:ext>
            </a:extLst>
          </p:cNvPr>
          <p:cNvSpPr>
            <a:spLocks xmlns:a="http://schemas.openxmlformats.org/drawingml/2006/main" noGrp="1"/>
          </p:cNvSpPr>
          <p:nvPr/>
        </p:nvSpPr>
        <p:spPr>
          <a:xfrm xmlns:a="http://schemas.openxmlformats.org/drawingml/2006/main">
            <a:off x="762000" y="3848100"/>
            <a:ext cx="7620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443"/>
                </a:solidFill>
                <a:latin typeface="Arial"/>
                <a:ea typeface="Arial"/>
                <a:cs typeface="Arial"/>
              </a:defRPr>
            </a:defPPr>
          </a:lstStyle>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Synthetic communities and coordinates do not map to Toronto.</a:t>
            </a:r>
          </a:p>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Six validation months may differ from the hidden period.</a:t>
            </a:r>
          </a:p>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Home-bootstrap intervals do not capture shared monthly shocks.</a:t>
            </a:r>
          </a:p>
        </p:txBody>
      </p:sp>
      <p:sp>
        <p:nvSpPr>
          <p:cNvPr id="8" name="next-step-divider">
            <a:extLst xmlns:a="http://schemas.openxmlformats.org/drawingml/2006/main">
              <a:ext uri="{FF2B5EF4-FFF2-40B4-BE49-F238E27FC236}">
                <a16:creationId xmlns:a16="http://schemas.microsoft.com/office/drawing/2014/main" id="{19012EC1-661B-4757-A773-51BCCD8F5AD3}"/>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next-step">
            <a:extLst xmlns:a="http://schemas.openxmlformats.org/drawingml/2006/main">
              <a:ext uri="{FF2B5EF4-FFF2-40B4-BE49-F238E27FC236}">
                <a16:creationId xmlns:a16="http://schemas.microsoft.com/office/drawing/2014/main" id="{170C48AD-75B2-40D2-AE0F-123C52A34310}"/>
              </a:ext>
            </a:extLst>
          </p:cNvPr>
          <p:cNvSpPr>
            <a:spLocks xmlns:a="http://schemas.openxmlformats.org/drawingml/2006/main" noGrp="1"/>
          </p:cNvSpPr>
          <p:nvPr/>
        </p:nvSpPr>
        <p:spPr>
          <a:xfrm xmlns:a="http://schemas.openxmlformats.org/drawingml/2006/main">
            <a:off x="762000" y="57531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80"/>
                </a:solidFill>
                <a:latin typeface="Arial"/>
                <a:ea typeface="Arial"/>
                <a:cs typeface="Arial"/>
              </a:defRPr>
            </a:defPPr>
          </a:lstStyle>
          <a:p xmlns:a="http://schemas.openxmlformats.org/drawingml/2006/main">
            <a:pPr algn="l">
              <a:defRPr sz="1500" b="1">
                <a:solidFill>
                  <a:srgbClr val="147D80"/>
                </a:solidFill>
                <a:latin typeface="Arial"/>
                <a:ea typeface="Arial"/>
                <a:cs typeface="Arial"/>
              </a:defRPr>
            </a:pPr>
            <a:r>
              <a:rPr sz="1500" b="1">
                <a:solidFill>
                  <a:srgbClr val="147D80"/>
                </a:solidFill>
                <a:latin typeface="Arial"/>
                <a:ea typeface="Arial"/>
                <a:cs typeface="Arial"/>
              </a:rPr>
              <a:t>Next test: recent community comparables built only from sales available before each prediction date.</a:t>
            </a:r>
          </a:p>
        </p:txBody>
      </p:sp>
    </p:spTree>
    <p:extLst>
      <p:ext uri="{BB962C8B-B14F-4D97-AF65-F5344CB8AC3E}">
        <p14:creationId xmlns:p14="http://schemas.microsoft.com/office/powerpoint/2010/main" val="12030278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2026-10-18T18:16:22.1030000Z</dcterms:created>
  <dcterms:modified xsi:type="dcterms:W3CDTF">2026-10-18T18:16:22.1030000Z</dcterms:modified>
</coreProperties>
</file>